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694"/>
  </p:normalViewPr>
  <p:slideViewPr>
    <p:cSldViewPr snapToGrid="0">
      <p:cViewPr varScale="1">
        <p:scale>
          <a:sx n="96" d="100"/>
          <a:sy n="96" d="100"/>
        </p:scale>
        <p:origin x="1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dirty="0"/>
              <a:t>Hi, I'm Sumeet. This is my capstone design review for a retrieval-augmented LLM system I call the Research Paper Navigator, built incrementally across eight checkpoints this program. Over the next few minutes I'll walk through the problem it solves, how it works, how I evaluated it, the key engineering decisions and trade-offs behind it, and what's still left to improve.</a:t>
            </a:r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Let me start with the problem. Large language models answer with total confidence — even when they're completely wrong. That's not a hypothetical concern for this project: I proved it in Checkpoint 1.1, on the exact corpus this system covers — 153 computer-science research papers in program synthesis, programming languages, and neuro-symbolic AI.</a:t>
            </a:r>
          </a:p>
          <a:p/>
          <a:p>
            <a:r>
              <a:t>I asked a bare LLM, with no retrieval at all, questions about these papers, and it hallucinated three different ways: it invented a wrong title for a real paper, it fabricated a verbatim quote that doesn't exist anywhere in the text, and it made up a precise-sounding performance statistic when comparing two systems. Every one of those wrong answers was stated with full, unhedged confidence.</a:t>
            </a:r>
          </a:p>
          <a:p/>
          <a:p>
            <a:r>
              <a:t>And that's the real risk here: for a researcher or student who needs citable, trustworthy answers, a confidently wrong answer is more dangerous than no answer at all. That is the problem this system is built to remove.</a:t>
            </a:r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At a high level, the system has five stages, built up incrementally across the program. A user's question first passes through an input sanitizer, then a router decides whether it's simple enough for a single-call direct path or complex enough to need the full agent loop. Either way, retrieval runs next: a BM25 keyword index over all 153 papers, chunked into roughly 15,500 passages of 250 words each with 50-word overlap.</a:t>
            </a:r>
          </a:p>
          <a:p>
            <a:endParaRPr dirty="0"/>
          </a:p>
          <a:p>
            <a:r>
              <a:rPr dirty="0"/>
              <a:t>For complex, multistep questions, an agent loop takes over: a planner model looks at what's been retrieved so far, decides if it's enough to answer, and if not, issues a new, targeted search — up to three rounds. Finally, an answer-generation call produces the response, strictly grounded in the retrieved document block, with every other part of the prompt — the user's own question text, any text they paste in — treated as plain data, never as instructions. That data-versus-instruction boundary is the backbone of the security hardening I'll come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Checkpoint 2.1 established the baseline: a plain BM25 keyword retriever, which is fast, free, and deterministic — appropriate given this is a fixed academic corpus with precise technical vocabulary, where exact term matches do a lot of work. Checkpoint 3.1 then built the evaluation harness I reused for the rest of the program: an LLM-judge that scores an answer pass or fail against grading notes I wrote myself for five representative questions. Keeping that exact same five-question set unchanged across every later checkpoint is what let me do honest before-and-after comparisons instead of cherry-picked ones.</a:t>
            </a:r>
          </a:p>
          <a:p>
            <a:endParaRPr dirty="0"/>
          </a:p>
          <a:p>
            <a:r>
              <a:rPr dirty="0"/>
              <a:t>The most important result is from Checkpoint 4.1: I diagnosed a real retrieval failure — a question about a specific 2018 paper by Ellis et al. never retrieved that paper's own text, because a different paper that merely cited it was far more keyword-dense and ranked higher. I fixed this with a citation and same-author graph, built from the corpus's own filename conventions and in-text citation mentions, disambiguated by year. That fix worked exactly as designed on the targeted question — but on the SAME evaluation set, a different question that used to pass started failing, because swapping in the related paper evicted a chunk that was load-bearing for that other question. Net pass rate: four out of five, both before and after. That's not a failure of the fix — it's an honest demonstration that retrieval improvements under a fixed context budget are trade-offs, not free wins.</a:t>
            </a:r>
          </a:p>
          <a:p>
            <a:endParaRPr dirty="0"/>
          </a:p>
          <a:p>
            <a:r>
              <a:rPr dirty="0"/>
              <a:t>I want to be equally honest about what's still broken. A citation-misattribution bug — confusing a 2018 paper with a different, later paper by the same authors — showed up first in Checkpoint 5.1, and I was still finding it as late as Checkpoint 7.1. It's a real, open limitation I'll come back to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 few decisions stand out as genuinely consequential, and I want to explain the reasoning, not just the outcome.</a:t>
            </a:r>
          </a:p>
          <a:p>
            <a:endParaRPr dirty="0"/>
          </a:p>
          <a:p>
            <a:r>
              <a:rPr dirty="0"/>
              <a:t>First, I chose BM25 keyword retrieval over semantic embeddings for this stage. This corpus is academic papers with precise, stable technical vocabulary — author names, algorithm names, exact terms — exactly the case where keyword matching is strong and where an embedding model's fuzzier similarity can actually underperform. I treated semantic retrieval as a deliberate next-iteration item, not a gap I papered over.</a:t>
            </a:r>
          </a:p>
          <a:p>
            <a:endParaRPr dirty="0"/>
          </a:p>
          <a:p>
            <a:r>
              <a:rPr dirty="0"/>
              <a:t>Second, when I added citation-aware retrieval in Checkpoint 4.1, I chose a lightweight, explainable graph built directly from the corpus's own filename conventions and in-text citation mentions, rather than a new ML model. I verified it by hand — checking that a citation to 'Ellis et al. 2018' only connects to the actual 2018 paper, not every paper that author wrote — before trusting it.</a:t>
            </a:r>
          </a:p>
          <a:p>
            <a:endParaRPr dirty="0"/>
          </a:p>
          <a:p>
            <a:r>
              <a:rPr dirty="0"/>
              <a:t>Third, every advanced retrieval technique I added was constrained to use the SAME document budget as the baseline, to keep every comparison fair. That's also exactly what exposed the Checkpoint 4.1 trade-off — a more honest result than a comparison that quietly gives the new approach more resources.</a:t>
            </a:r>
          </a:p>
          <a:p>
            <a:endParaRPr dirty="0"/>
          </a:p>
          <a:p>
            <a:r>
              <a:rPr dirty="0"/>
              <a:t>Finally, by Checkpoint 7.1 the central lesson of the security and performance work was that there's no single, complete fix. I verified this directly: extending my input sanitizer closed two real gaps, but on the same test case it also increased token cost by 65% and revived a citation bug the </a:t>
            </a:r>
            <a:r>
              <a:rPr dirty="0" err="1"/>
              <a:t>unsanitized</a:t>
            </a:r>
            <a:r>
              <a:rPr dirty="0"/>
              <a:t> version had actually avoided. I chose to report that honestly rather than claim a clean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 system from this program is finished, and I want to be specific about what's actually still open.</a:t>
            </a:r>
          </a:p>
          <a:p>
            <a:endParaRPr dirty="0"/>
          </a:p>
          <a:p>
            <a:r>
              <a:rPr dirty="0"/>
              <a:t>The most persistent issue is the citation-year misattribution bug. It first appeared in Checkpoint 5.1, and I confirmed it again as late as Checkpoint 7.1 — the system can answer a question about a specific, named 2018 paper using content that's actually from a different paper by the same authors. None of my security or cost work in Modules 6 and 7 targets this, because it's a retrieval-and-reasoning correctness problem, not a security or cost problem — it needs a different fix.</a:t>
            </a:r>
          </a:p>
          <a:p>
            <a:endParaRPr dirty="0"/>
          </a:p>
          <a:p>
            <a:r>
              <a:rPr dirty="0"/>
              <a:t>Second, I found BM25's retrieval quality is highly sensitive to how verbosely a question is phrased — the exact same information need can rank a target document anywhere from 8th to 28th purely based on wording, which I confirmed by directly scoring different phrasings against my index. This matters because my Checkpoint 7.1 security fix — a phrase-based sanitizer — can neutralize an attack's trigger words while leaving enough other words behind to still dilute the ranking. A blocklist fixes instruction-following; it doesn't fix verbosity.</a:t>
            </a:r>
          </a:p>
          <a:p>
            <a:endParaRPr dirty="0"/>
          </a:p>
          <a:p>
            <a:r>
              <a:rPr dirty="0"/>
              <a:t>Third, the agent is genuinely non-deterministic — I found cases in Checkpoint 5.1 where the identical question, run twice, took a different number of search steps and reached a different conclusion.</a:t>
            </a:r>
          </a:p>
          <a:p>
            <a:endParaRPr dirty="0"/>
          </a:p>
          <a:p>
            <a:r>
              <a:rPr dirty="0"/>
              <a:t>If I continued this project, my next three priorities would be: porting the citation graph's year-disambiguation directly into the main retrieval path; adding a step that extracts a short core query before it reaches BM25, since that's the only approach I've found that actually addresses verbosity dilution; and replacing the exact-match cache with a semantic one, so a rephrased repeat question still gets the cost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 — happy to take questions. I'm glad to go deeper on any of the design rationale, the evaluation evidence, or the engineering trade-offs I've walked through. The full implementation, every checkpoint's worksheet, and all the evidence I've referenced are in the GitHub repository linked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65176" y="5870448"/>
            <a:ext cx="108996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Sumeet Lakhwani  ·  Research Paper Navigator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1698574" y="3857831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800" b="0" i="0" u="none" strike="noStrike" dirty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LLMs answer with </a:t>
            </a:r>
            <a:r>
              <a:rPr b="1" sz="2000"/>
              <a:t>total confidence</a:t>
            </a:r>
            <a:r>
              <a:rPr b="0" sz="2000"/>
              <a:t> — even when they're completely wrong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it on this exact </a:t>
            </a:r>
            <a:r>
              <a:rPr b="1" sz="2000"/>
              <a:t>153-paper corpus</a:t>
            </a:r>
            <a:r>
              <a:rPr b="0" sz="2000"/>
              <a:t>: an invented title, a fabricated quote, a made-up statistic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 confidently wrong answer is </a:t>
            </a:r>
            <a:r>
              <a:rPr b="1" sz="2000"/>
              <a:t>more dangerous than no answer at all</a:t>
            </a:r>
            <a:r>
              <a:rPr b="0" sz="2000"/>
              <a:t> — that's the risk this system removes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570586" y="696992"/>
            <a:ext cx="1106972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Five-stage pipeline (Checkpoints 2.1–7.1): retrieval, evaluation, agentic reasoning, security/cost hardening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 router sends simple questions to a single call; complex ones enter an agent loop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Answers are grounded strictly in retrieved documents — user input is treated as data, never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  <p:sp>
        <p:nvSpPr>
          <p:cNvPr id="6" name="Oval 5"/>
          <p:cNvSpPr/>
          <p:nvPr/>
        </p:nvSpPr>
        <p:spPr>
          <a:xfrm>
            <a:off x="1328623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User Question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Natural-language research question</a:t>
            </a:r>
          </a:p>
        </p:txBody>
      </p:sp>
      <p:sp>
        <p:nvSpPr>
          <p:cNvPr id="9" name="Oval 8"/>
          <p:cNvSpPr/>
          <p:nvPr/>
        </p:nvSpPr>
        <p:spPr>
          <a:xfrm>
            <a:off x="3620109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0126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40126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Sanitize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Strip injected instructions; escape untrusted text</a:t>
            </a:r>
          </a:p>
        </p:txBody>
      </p:sp>
      <p:sp>
        <p:nvSpPr>
          <p:cNvPr id="12" name="Oval 11"/>
          <p:cNvSpPr/>
          <p:nvPr/>
        </p:nvSpPr>
        <p:spPr>
          <a:xfrm>
            <a:off x="5911596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1612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31612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Route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Simple one-hop vs. multistep question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03082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3099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3099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Retrieve + Decide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BM25 + citation graph; agent loop, ≤ 3 rounds</a:t>
            </a:r>
          </a:p>
        </p:txBody>
      </p:sp>
      <p:sp>
        <p:nvSpPr>
          <p:cNvPr id="18" name="Oval 17"/>
          <p:cNvSpPr/>
          <p:nvPr/>
        </p:nvSpPr>
        <p:spPr>
          <a:xfrm>
            <a:off x="10494568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4585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0B4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714585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0B479C"/>
                </a:solidFill>
              </a:rPr>
              <a:t>Answer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Grounded only in retrieved documents (XML-hardened)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74366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65852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7339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48825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1100" b="0">
                <a:solidFill>
                  <a:srgbClr val="202124"/>
                </a:solidFill>
              </a:rPr>
              <a:t>Router sends simple, one-hop questions straight to Answer in a single LLM call.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F6368"/>
                </a:solidFill>
              </a:rPr>
              <a:t>Multistep questions iterate through Retrieve ⇄ Decide (agent loop, capped at 3 rounds) before answering.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/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LLM-judge evaluation: pass/fail on written grading notes, </a:t>
            </a:r>
            <a:r>
              <a:rPr b="1" sz="2000"/>
              <a:t>5 fixed questions</a:t>
            </a:r>
            <a:r>
              <a:rPr b="0" sz="2000"/>
              <a:t>, unchanged across every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one failure (unreachable at rank ~122) but regressed another — net pass rate unchanged: </a:t>
            </a:r>
            <a:r>
              <a:rPr b="1" sz="2000"/>
              <a:t>4/5</a:t>
            </a:r>
            <a:r>
              <a:rPr b="0" sz="2000"/>
              <a:t>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Measured fixes for hallucination, injection, and cost — but a citation-year bug persists, unresolved, across </a:t>
            </a:r>
            <a:r>
              <a:rPr b="1" sz="2000"/>
              <a:t>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 — free, deterministic, strong on this corpus's precise vocabulary; semantic retrieval deferred, not hidden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+ text conventions, not a new ML model — cheap and hand-verifiable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technique kept the baseline's exact document budget — what honestly exposed the </a:t>
            </a:r>
            <a:r>
              <a:rPr b="1" sz="2000"/>
              <a:t>Checkpoint 4.1 trade-off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enough — chose layered, partial defenses over one “complete”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</a:t>
            </a:r>
            <a:r>
              <a:rPr b="1" sz="2000"/>
              <a:t>5+ checkpoints</a:t>
            </a:r>
            <a:r>
              <a:rPr b="0" sz="2000"/>
              <a:t>) and BM25 ranking the same need </a:t>
            </a:r>
            <a:r>
              <a:rPr b="1" sz="2000"/>
              <a:t>8th to 28th</a:t>
            </a:r>
            <a:r>
              <a:rPr b="0" sz="2000"/>
              <a:t> purely by phrasing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path and reach a different conclusion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year-disambiguation in the main retrieval path, a query-extraction step before BM25, a semantic cache, and broader stability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400" b="1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Happy to go deeper on: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r>
              <a:rPr sz="1600" b="0">
                <a:solidFill>
                  <a:srgbClr val="5F6368"/>
                </a:solidFill>
              </a:rPr>
              <a:t>Code and evidence:  github.com/slakhwa/mit-rag-context-eng-capstone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1996</Words>
  <Application>Microsoft Macintosh PowerPoint</Application>
  <PresentationFormat>Widescreen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Sumeet Lakhwani</cp:lastModifiedBy>
  <cp:revision>3</cp:revision>
  <dcterms:created xsi:type="dcterms:W3CDTF">2018-11-05T13:58:18Z</dcterms:created>
  <dcterms:modified xsi:type="dcterms:W3CDTF">2026-10-28T03:38:50Z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