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1" roundtripDataSignature="AMtx7mjxgbYjccChfboh+PxKghejRKdf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1F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8277F1-729D-4533-9937-95B36D51CB5B}" v="2" dt="2026-08-06T07:05:58.9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694"/>
  </p:normalViewPr>
  <p:slideViewPr>
    <p:cSldViewPr snapToGrid="0">
      <p:cViewPr varScale="1">
        <p:scale>
          <a:sx n="96" d="100"/>
          <a:sy n="96" d="100"/>
        </p:scale>
        <p:origin x="192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izza Maira" userId="d0a25a6f-4008-4c86-8740-27856525f3e1" providerId="ADAL" clId="{A44FACB3-3A32-418A-B1D8-F602B668736A}"/>
    <pc:docChg chg="undo custSel addSld modSld">
      <pc:chgData name="Fizza Maira" userId="d0a25a6f-4008-4c86-8740-27856525f3e1" providerId="ADAL" clId="{A44FACB3-3A32-418A-B1D8-F602B668736A}" dt="2026-08-06T07:13:10.115" v="595" actId="1076"/>
      <pc:docMkLst>
        <pc:docMk/>
      </pc:docMkLst>
      <pc:sldChg chg="modSp mod">
        <pc:chgData name="Fizza Maira" userId="d0a25a6f-4008-4c86-8740-27856525f3e1" providerId="ADAL" clId="{A44FACB3-3A32-418A-B1D8-F602B668736A}" dt="2026-08-06T06:56:31.796" v="66" actId="207"/>
        <pc:sldMkLst>
          <pc:docMk/>
          <pc:sldMk cId="0" sldId="256"/>
        </pc:sldMkLst>
        <pc:spChg chg="mod">
          <ac:chgData name="Fizza Maira" userId="d0a25a6f-4008-4c86-8740-27856525f3e1" providerId="ADAL" clId="{A44FACB3-3A32-418A-B1D8-F602B668736A}" dt="2026-08-06T06:56:31.796" v="66" actId="207"/>
          <ac:spMkLst>
            <pc:docMk/>
            <pc:sldMk cId="0" sldId="256"/>
            <ac:spMk id="94" creationId="{00000000-0000-0000-0000-000000000000}"/>
          </ac:spMkLst>
        </pc:spChg>
      </pc:sldChg>
      <pc:sldChg chg="addSp delSp modSp mod">
        <pc:chgData name="Fizza Maira" userId="d0a25a6f-4008-4c86-8740-27856525f3e1" providerId="ADAL" clId="{A44FACB3-3A32-418A-B1D8-F602B668736A}" dt="2026-08-06T06:59:42.372" v="125" actId="1036"/>
        <pc:sldMkLst>
          <pc:docMk/>
          <pc:sldMk cId="0" sldId="257"/>
        </pc:sldMkLst>
        <pc:spChg chg="add mod">
          <ac:chgData name="Fizza Maira" userId="d0a25a6f-4008-4c86-8740-27856525f3e1" providerId="ADAL" clId="{A44FACB3-3A32-418A-B1D8-F602B668736A}" dt="2026-08-06T06:56:48.518" v="69" actId="122"/>
          <ac:spMkLst>
            <pc:docMk/>
            <pc:sldMk cId="0" sldId="257"/>
            <ac:spMk id="3" creationId="{6E5FE501-52FC-9663-175F-EE814939F785}"/>
          </ac:spMkLst>
        </pc:spChg>
        <pc:spChg chg="add mod">
          <ac:chgData name="Fizza Maira" userId="d0a25a6f-4008-4c86-8740-27856525f3e1" providerId="ADAL" clId="{A44FACB3-3A32-418A-B1D8-F602B668736A}" dt="2026-08-06T06:59:42.372" v="125" actId="1036"/>
          <ac:spMkLst>
            <pc:docMk/>
            <pc:sldMk cId="0" sldId="257"/>
            <ac:spMk id="5" creationId="{F18859DA-4EBF-86FB-39DA-CC40AEFAA531}"/>
          </ac:spMkLst>
        </pc:spChg>
        <pc:spChg chg="add del mod">
          <ac:chgData name="Fizza Maira" userId="d0a25a6f-4008-4c86-8740-27856525f3e1" providerId="ADAL" clId="{A44FACB3-3A32-418A-B1D8-F602B668736A}" dt="2026-08-06T06:56:56.706" v="71" actId="478"/>
          <ac:spMkLst>
            <pc:docMk/>
            <pc:sldMk cId="0" sldId="257"/>
            <ac:spMk id="7" creationId="{47ACB267-F7CA-D45F-F1B9-E208296EE326}"/>
          </ac:spMkLst>
        </pc:spChg>
        <pc:spChg chg="add del mod">
          <ac:chgData name="Fizza Maira" userId="d0a25a6f-4008-4c86-8740-27856525f3e1" providerId="ADAL" clId="{A44FACB3-3A32-418A-B1D8-F602B668736A}" dt="2026-08-06T06:56:52.400" v="70" actId="478"/>
          <ac:spMkLst>
            <pc:docMk/>
            <pc:sldMk cId="0" sldId="257"/>
            <ac:spMk id="9" creationId="{8C2CC35A-C1C4-C9E7-86A2-232A1BAC361B}"/>
          </ac:spMkLst>
        </pc:spChg>
      </pc:sldChg>
      <pc:sldChg chg="addSp delSp modSp mod">
        <pc:chgData name="Fizza Maira" userId="d0a25a6f-4008-4c86-8740-27856525f3e1" providerId="ADAL" clId="{A44FACB3-3A32-418A-B1D8-F602B668736A}" dt="2026-08-06T07:07:56.465" v="389" actId="1035"/>
        <pc:sldMkLst>
          <pc:docMk/>
          <pc:sldMk cId="0" sldId="258"/>
        </pc:sldMkLst>
        <pc:spChg chg="add mod">
          <ac:chgData name="Fizza Maira" userId="d0a25a6f-4008-4c86-8740-27856525f3e1" providerId="ADAL" clId="{A44FACB3-3A32-418A-B1D8-F602B668736A}" dt="2026-08-06T07:07:56.465" v="389" actId="1035"/>
          <ac:spMkLst>
            <pc:docMk/>
            <pc:sldMk cId="0" sldId="258"/>
            <ac:spMk id="3" creationId="{9809ED82-7865-1E75-8005-E3EE187972A9}"/>
          </ac:spMkLst>
        </pc:spChg>
        <pc:spChg chg="add del">
          <ac:chgData name="Fizza Maira" userId="d0a25a6f-4008-4c86-8740-27856525f3e1" providerId="ADAL" clId="{A44FACB3-3A32-418A-B1D8-F602B668736A}" dt="2026-08-06T06:57:33.761" v="75" actId="22"/>
          <ac:spMkLst>
            <pc:docMk/>
            <pc:sldMk cId="0" sldId="258"/>
            <ac:spMk id="5" creationId="{8F03CF5C-94F2-6975-E3F3-1B4B69AD5D5D}"/>
          </ac:spMkLst>
        </pc:spChg>
        <pc:spChg chg="add del mod">
          <ac:chgData name="Fizza Maira" userId="d0a25a6f-4008-4c86-8740-27856525f3e1" providerId="ADAL" clId="{A44FACB3-3A32-418A-B1D8-F602B668736A}" dt="2026-08-06T06:58:06.206" v="84" actId="21"/>
          <ac:spMkLst>
            <pc:docMk/>
            <pc:sldMk cId="0" sldId="258"/>
            <ac:spMk id="7" creationId="{22D905D9-AAC5-3957-E29C-1F3E78727844}"/>
          </ac:spMkLst>
        </pc:spChg>
        <pc:spChg chg="add mod">
          <ac:chgData name="Fizza Maira" userId="d0a25a6f-4008-4c86-8740-27856525f3e1" providerId="ADAL" clId="{A44FACB3-3A32-418A-B1D8-F602B668736A}" dt="2026-08-06T07:07:18.056" v="299" actId="12788"/>
          <ac:spMkLst>
            <pc:docMk/>
            <pc:sldMk cId="0" sldId="258"/>
            <ac:spMk id="9" creationId="{73F3F64E-BE4D-D3DF-57D5-BF67AE1E9EDD}"/>
          </ac:spMkLst>
        </pc:spChg>
      </pc:sldChg>
      <pc:sldChg chg="addSp modSp new mod">
        <pc:chgData name="Fizza Maira" userId="d0a25a6f-4008-4c86-8740-27856525f3e1" providerId="ADAL" clId="{A44FACB3-3A32-418A-B1D8-F602B668736A}" dt="2026-08-06T07:08:22.098" v="420" actId="1035"/>
        <pc:sldMkLst>
          <pc:docMk/>
          <pc:sldMk cId="3289224814" sldId="259"/>
        </pc:sldMkLst>
        <pc:spChg chg="add mod">
          <ac:chgData name="Fizza Maira" userId="d0a25a6f-4008-4c86-8740-27856525f3e1" providerId="ADAL" clId="{A44FACB3-3A32-418A-B1D8-F602B668736A}" dt="2026-08-06T07:08:22.098" v="420" actId="1035"/>
          <ac:spMkLst>
            <pc:docMk/>
            <pc:sldMk cId="3289224814" sldId="259"/>
            <ac:spMk id="3" creationId="{31AE4673-2310-7768-CAFE-C71E228846A7}"/>
          </ac:spMkLst>
        </pc:spChg>
        <pc:spChg chg="add mod">
          <ac:chgData name="Fizza Maira" userId="d0a25a6f-4008-4c86-8740-27856525f3e1" providerId="ADAL" clId="{A44FACB3-3A32-418A-B1D8-F602B668736A}" dt="2026-08-06T07:07:48.107" v="348" actId="20577"/>
          <ac:spMkLst>
            <pc:docMk/>
            <pc:sldMk cId="3289224814" sldId="259"/>
            <ac:spMk id="5" creationId="{98CF4003-6B2E-87CF-2817-76889C6135B4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0:21.214" v="482"/>
        <pc:sldMkLst>
          <pc:docMk/>
          <pc:sldMk cId="3987153470" sldId="260"/>
        </pc:sldMkLst>
        <pc:spChg chg="add mod">
          <ac:chgData name="Fizza Maira" userId="d0a25a6f-4008-4c86-8740-27856525f3e1" providerId="ADAL" clId="{A44FACB3-3A32-418A-B1D8-F602B668736A}" dt="2026-08-06T07:09:54.338" v="481" actId="1076"/>
          <ac:spMkLst>
            <pc:docMk/>
            <pc:sldMk cId="3987153470" sldId="260"/>
            <ac:spMk id="3" creationId="{FBE09B85-CBAA-6E41-F9C1-5D0C62D32631}"/>
          </ac:spMkLst>
        </pc:spChg>
        <pc:spChg chg="add mod">
          <ac:chgData name="Fizza Maira" userId="d0a25a6f-4008-4c86-8740-27856525f3e1" providerId="ADAL" clId="{A44FACB3-3A32-418A-B1D8-F602B668736A}" dt="2026-08-06T07:10:21.214" v="482"/>
          <ac:spMkLst>
            <pc:docMk/>
            <pc:sldMk cId="3987153470" sldId="260"/>
            <ac:spMk id="5" creationId="{E2D08B99-26E8-96E3-B453-DEED97ED3C1F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1:25.705" v="519" actId="1076"/>
        <pc:sldMkLst>
          <pc:docMk/>
          <pc:sldMk cId="684907484" sldId="261"/>
        </pc:sldMkLst>
        <pc:spChg chg="add mod">
          <ac:chgData name="Fizza Maira" userId="d0a25a6f-4008-4c86-8740-27856525f3e1" providerId="ADAL" clId="{A44FACB3-3A32-418A-B1D8-F602B668736A}" dt="2026-08-06T07:11:25.705" v="519" actId="1076"/>
          <ac:spMkLst>
            <pc:docMk/>
            <pc:sldMk cId="684907484" sldId="261"/>
            <ac:spMk id="3" creationId="{F6631922-EDA2-CA93-9A0A-C814D5C410DE}"/>
          </ac:spMkLst>
        </pc:spChg>
        <pc:spChg chg="add mod">
          <ac:chgData name="Fizza Maira" userId="d0a25a6f-4008-4c86-8740-27856525f3e1" providerId="ADAL" clId="{A44FACB3-3A32-418A-B1D8-F602B668736A}" dt="2026-08-06T07:10:54.305" v="515"/>
          <ac:spMkLst>
            <pc:docMk/>
            <pc:sldMk cId="684907484" sldId="261"/>
            <ac:spMk id="5" creationId="{BC92D5CD-CEED-CAF9-8E1C-650675A313C3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2:09.100" v="557" actId="1076"/>
        <pc:sldMkLst>
          <pc:docMk/>
          <pc:sldMk cId="2040043498" sldId="262"/>
        </pc:sldMkLst>
        <pc:spChg chg="add mod">
          <ac:chgData name="Fizza Maira" userId="d0a25a6f-4008-4c86-8740-27856525f3e1" providerId="ADAL" clId="{A44FACB3-3A32-418A-B1D8-F602B668736A}" dt="2026-08-06T07:12:09.100" v="557" actId="1076"/>
          <ac:spMkLst>
            <pc:docMk/>
            <pc:sldMk cId="2040043498" sldId="262"/>
            <ac:spMk id="3" creationId="{158013A2-70CA-8E35-F3F3-F40CD428166B}"/>
          </ac:spMkLst>
        </pc:spChg>
        <pc:spChg chg="add mod">
          <ac:chgData name="Fizza Maira" userId="d0a25a6f-4008-4c86-8740-27856525f3e1" providerId="ADAL" clId="{A44FACB3-3A32-418A-B1D8-F602B668736A}" dt="2026-08-06T07:11:53.354" v="555"/>
          <ac:spMkLst>
            <pc:docMk/>
            <pc:sldMk cId="2040043498" sldId="262"/>
            <ac:spMk id="5" creationId="{688822D8-D529-2998-D46B-41BB9F87B091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3:10.115" v="595" actId="1076"/>
        <pc:sldMkLst>
          <pc:docMk/>
          <pc:sldMk cId="3937486198" sldId="263"/>
        </pc:sldMkLst>
        <pc:spChg chg="add mod">
          <ac:chgData name="Fizza Maira" userId="d0a25a6f-4008-4c86-8740-27856525f3e1" providerId="ADAL" clId="{A44FACB3-3A32-418A-B1D8-F602B668736A}" dt="2026-08-06T07:13:10.115" v="595" actId="1076"/>
          <ac:spMkLst>
            <pc:docMk/>
            <pc:sldMk cId="3937486198" sldId="263"/>
            <ac:spMk id="3" creationId="{460254CD-0903-966C-40EF-C5EBA490158C}"/>
          </ac:spMkLst>
        </pc:spChg>
        <pc:spChg chg="add mod">
          <ac:chgData name="Fizza Maira" userId="d0a25a6f-4008-4c86-8740-27856525f3e1" providerId="ADAL" clId="{A44FACB3-3A32-418A-B1D8-F602B668736A}" dt="2026-08-06T07:12:49.659" v="592"/>
          <ac:spMkLst>
            <pc:docMk/>
            <pc:sldMk cId="3937486198" sldId="263"/>
            <ac:spMk id="5" creationId="{7FE4D497-87C5-39D6-FAF0-4FE272E0EB7E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[Hold this slide ~5 seconds while you start speaking.]</a:t>
            </a:r>
          </a:p>
          <a:p/>
          <a:p>
            <a:r>
              <a:t>OPEN: "Hello — welcome to my capstone design review."</a:t>
            </a:r>
          </a:p>
          <a:p/>
          <a:p>
            <a:r>
              <a:t>Then advance to the next slide to introduce yourself.</a:t>
            </a:r>
          </a:p>
        </p:txBody>
      </p:sp>
      <p:sp>
        <p:nvSpPr>
          <p:cNvPr id="92" name="Google Shape;9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OPEN: "Hi, I'm Sumeet. This is my capstone design review for the Research Paper Navigator — a retrieval-augmented LLM system built incrementally across all eight checkpoints of this program."</a:t>
            </a:r>
          </a:p>
          <a:p/>
          <a:p>
            <a:r>
              <a:t>ROADMAP (say as one flowing sentence): "Over the next few minutes I'll cover:</a:t>
            </a:r>
          </a:p>
          <a:p>
            <a:r>
              <a:t>  1. the problem it solves,</a:t>
            </a:r>
          </a:p>
          <a:p>
            <a:r>
              <a:t>  2. how the system works,</a:t>
            </a:r>
          </a:p>
          <a:p>
            <a:r>
              <a:t>  3. how I evaluated it,</a:t>
            </a:r>
          </a:p>
          <a:p>
            <a:r>
              <a:t>  4. the key engineering decisions and trade-offs behind it,</a:t>
            </a:r>
          </a:p>
          <a:p>
            <a:r>
              <a:t>  5. and what's still left to improve."</a:t>
            </a:r>
          </a:p>
          <a:p/>
          <a:p>
            <a:r>
              <a:t>TRANSITION: "Let me start with the problem."</a:t>
            </a:r>
          </a:p>
        </p:txBody>
      </p:sp>
      <p:sp>
        <p:nvSpPr>
          <p:cNvPr id="97" name="Google Shape;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HOOK: "Large language models answer with total confidence — even when they're completely wrong."</a:t>
            </a:r>
          </a:p>
          <a:p/>
          <a:p>
            <a:r>
              <a:t>[Pause one beat — let the hook land.]</a:t>
            </a:r>
          </a:p>
          <a:p/>
          <a:p>
            <a:r>
              <a:t>PROOF: "That's not hypothetical for this project. In Checkpoint 1.1, I tested a bare LLM — no retrieval at all — on the exact corpus this system covers: 153 computer-science research papers in program synthesis, programming languages, and neuro-symbolic AI. It hallucinated three different ways:</a:t>
            </a:r>
          </a:p>
          <a:p>
            <a:r>
              <a:t>  1. it invented a wrong title for a real paper,</a:t>
            </a:r>
          </a:p>
          <a:p>
            <a:r>
              <a:t>  2. it fabricated a verbatim quote that doesn't exist anywhere in the text,</a:t>
            </a:r>
          </a:p>
          <a:p>
            <a:r>
              <a:t>  3. and it made up a precise-sounding performance statistic comparing two systems.</a:t>
            </a:r>
          </a:p>
          <a:p>
            <a:r>
              <a:t>Every one of those wrong answers was stated with full, unhedged confidence."</a:t>
            </a:r>
          </a:p>
          <a:p/>
          <a:p>
            <a:r>
              <a:t>STAKES: "For a researcher or student who needs citable, trustworthy answers, a confidently wrong answer is more dangerous than no answer at all. That is the problem this system is built to remove."</a:t>
            </a:r>
          </a:p>
          <a:p/>
          <a:p>
            <a:r>
              <a:t>TRANSITION: "So here's how the system removes it."</a:t>
            </a:r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OPEN: "At a high level, the system is a five-stage pipeline, built up incrementally across the program."</a:t>
            </a:r>
          </a:p>
          <a:p/>
          <a:p>
            <a:r>
              <a:t>[Walk the diagram left to right, pointing at each numbered card.]</a:t>
            </a:r>
          </a:p>
          <a:p/>
          <a:p>
            <a:r>
              <a:t>STAGE 1 — User Question: "A natural-language research question comes in."</a:t>
            </a:r>
          </a:p>
          <a:p/>
          <a:p>
            <a:r>
              <a:t>STAGE 2 — Sanitize: "An input sanitizer strips injected instructions and escapes untrusted text."</a:t>
            </a:r>
          </a:p>
          <a:p/>
          <a:p>
            <a:r>
              <a:t>STAGE 3 — Route: "A router decides: simple one-hop question, or a multistep one?"</a:t>
            </a:r>
          </a:p>
          <a:p/>
          <a:p>
            <a:r>
              <a:t>STAGE 4 — Retrieve + Decide: "Retrieval runs against a BM25 keyword index over all 153 papers — about 15,500 passages of 250 words each, with 50-word overlap — extended with a citation graph. For multistep questions, an agent loop takes over: a planner looks at what's been retrieved, decides whether it's enough, and if not issues a new, targeted search — up to three rounds."</a:t>
            </a:r>
          </a:p>
          <a:p/>
          <a:p>
            <a:r>
              <a:t>STAGE 5 — Answer: "A final generation call produces the response, strictly grounded in the retrieved documents. Everything else in the prompt — including the user's own question text — is treated as data, never as instructions."</a:t>
            </a:r>
          </a:p>
          <a:p/>
          <a:p>
            <a:r>
              <a:t>TRANSITION: "That data-versus-instructions boundary is the backbone of the security hardening — I'll come back to it. First: how do I know this works?"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OPEN: "Let me walk through how retrieval was built and — more importantly — how I measured it."</a:t>
            </a:r>
          </a:p>
          <a:p/>
          <a:p>
            <a:r>
              <a:t>BASELINE (2.1): "A plain BM25 keyword retriever: fast, free, deterministic — a good fit for a fixed academic corpus with precise technical vocabulary, where exact term matches do a lot of work."</a:t>
            </a:r>
          </a:p>
          <a:p/>
          <a:p>
            <a:r>
              <a:t>EVALUATION HARNESS (3.1): "An LLM-judge scores each answer pass or fail against grading notes I wrote myself, on five representative questions. That exact five-question set stayed unchanged across every later checkpoint — that's what makes every before-and-after comparison honest instead of cherry-picked."</a:t>
            </a:r>
          </a:p>
          <a:p/>
          <a:p>
            <a:r>
              <a:t>KEY RESULT (4.1): "I diagnosed a real retrieval failure: a question about a specific 2018 paper by Ellis et al. never retrieved that paper's own text, because a different paper that merely cited it was more keyword-dense and ranked higher. I fixed it with a citation and same-author graph — built from the corpus's own filename conventions and in-text citation mentions, disambiguated by year."</a:t>
            </a:r>
          </a:p>
          <a:p/>
          <a:p>
            <a:r>
              <a:t>THE TWIST (be candid here): "The fix worked exactly as designed on the targeted question — but a different question that used to pass started failing, because the swapped-in paper evicted a chunk that other question depended on. Net pass rate: four out of five, both before and after. That's not a failed fix — it's an honest demonstration that under a fixed context budget, retrieval improvements are trade-offs, not free wins."</a:t>
            </a:r>
          </a:p>
          <a:p/>
          <a:p>
            <a:r>
              <a:t>FLAG FORWARD: "One bug — confusing a 2018 paper with a later paper by the same authors — appeared in 5.1 and was still there in 7.1. I'll come back to it in limitations."</a:t>
            </a:r>
          </a:p>
          <a:p/>
          <a:p>
            <a:r>
              <a:t>TRANSITION: "Those results shaped the engineering decisions, which I'll explain next."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OPEN: "Four decisions were genuinely consequential — and I want to explain the reasoning, not just the outcome."</a:t>
            </a:r>
          </a:p>
          <a:p/>
          <a:p>
            <a:r>
              <a:t>DECISION 1 — BM25 over embeddings: "This corpus has precise, stable technical vocabulary — author names, algorithm names, exact terms — exactly where keyword matching is strong and embedding similarity can underperform. Semantic retrieval is a deliberate next-iteration item, not a gap I papered over."</a:t>
            </a:r>
          </a:p>
          <a:p/>
          <a:p>
            <a:r>
              <a:t>DECISION 2 — A citation graph, not a new ML model: "Lightweight and explainable, built directly from the corpus's own filename conventions and citation mentions. I verified it by hand — a citation to 'Ellis et al. 2018' connects only to the actual 2018 paper, not to everything that author wrote — before trusting it."</a:t>
            </a:r>
          </a:p>
          <a:p/>
          <a:p>
            <a:r>
              <a:t>DECISION 3 — Same document budget for every technique: "Every advanced method was constrained to the baseline's exact budget, to keep comparisons fair. That constraint is exactly what exposed the Checkpoint 4.1 trade-off — more honest than quietly giving the new approach extra resources."</a:t>
            </a:r>
          </a:p>
          <a:p/>
          <a:p>
            <a:r>
              <a:t>DECISION 4 — Layered, partial defenses: "By Checkpoint 7.1 the central security lesson was that no single fix is complete. I verified it directly: extending the input sanitizer closed two real gaps — but on the same test case it raised token cost 65% and revived a citation bug the unsanitized version had avoided. I reported that honestly rather than claiming a clean win."</a:t>
            </a:r>
          </a:p>
          <a:p/>
          <a:p>
            <a:r>
              <a:t>TRANSITION: "Which brings me to what's still open."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OPEN: "No system from a program like this is finished — so let me be specific about what's actually still open."</a:t>
            </a:r>
          </a:p>
          <a:p/>
          <a:p>
            <a:r>
              <a:t>LIMITATION 1 — Citation-year misattribution (the most persistent): "First appeared in Checkpoint 5.1, confirmed again as late as 7.1: the system can answer a question about a specific, named 2018 paper using content from a different paper by the same authors. None of the security or cost work targets this — it's a retrieval-and-reasoning correctness problem, and it needs a different fix."</a:t>
            </a:r>
          </a:p>
          <a:p/>
          <a:p>
            <a:r>
              <a:t>LIMITATION 2 — Verbosity sensitivity: "BM25's quality is highly sensitive to how verbosely a question is phrased — the same information need can rank a target document anywhere from 8th to 28th purely on wording. I confirmed that by directly scoring different phrasings against my index. And it interacts with security: my phrase-based sanitizer can strip an attack's trigger words while leaving enough other words to still dilute the ranking. A blocklist fixes instruction-following; it doesn't fix verbosity."</a:t>
            </a:r>
          </a:p>
          <a:p/>
          <a:p>
            <a:r>
              <a:t>LIMITATION 3 — Non-determinism: "The agent is genuinely non-deterministic — in Checkpoint 5.1, the identical question, run twice, took a different number of search steps and reached a different conclusion."</a:t>
            </a:r>
          </a:p>
          <a:p/>
          <a:p>
            <a:r>
              <a:t>NEXT PRIORITIES (if continuing): "One — port the citation graph's year-disambiguation into the main retrieval path. Two — extract a short core query before BM25; it's the only approach I've found that actually addresses verbosity dilution. Three — replace the exact-match cache with a semantic one, so rephrased repeats still get the cost benefit."</a:t>
            </a:r>
          </a:p>
          <a:p/>
          <a:p>
            <a:r>
              <a:t>TRANSITION: "And with that, I'll close."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CLOSE: "Thank you — happy to take questions."</a:t>
            </a:r>
          </a:p>
          <a:p/>
          <a:p>
            <a:r>
              <a:t>OFFER: "I'm glad to go deeper on any of the design rationale, the evaluation evidence, or the engineering trade-offs I've walked through."</a:t>
            </a:r>
          </a:p>
          <a:p/>
          <a:p>
            <a:r>
              <a:t>POINTER: "The full implementation, every checkpoint's worksheet, and all the evidence I've referenced are in the GitHub repository linked on this slide."</a:t>
            </a:r>
          </a:p>
          <a:p/>
          <a:p>
            <a:r>
              <a:t>[End recording after a 2–3 second pause on this slide.]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419600"/>
            <a:ext cx="12192000" cy="243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30830" y="3686830"/>
            <a:ext cx="1905000" cy="5223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Blank">
  <p:cSld name="5_Blank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97369" y="6362197"/>
            <a:ext cx="960461" cy="372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71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751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Blank">
  <p:cSld name="7_Blank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7"/>
          <p:cNvPicPr preferRelativeResize="0"/>
          <p:nvPr/>
        </p:nvPicPr>
        <p:blipFill rotWithShape="1">
          <a:blip r:embed="rId2">
            <a:alphaModFix amt="5000"/>
          </a:blip>
          <a:srcRect/>
          <a:stretch/>
        </p:blipFill>
        <p:spPr>
          <a:xfrm>
            <a:off x="3976469" y="2607021"/>
            <a:ext cx="4239062" cy="16439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75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7" name="Google Shape;2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alphaModFix/>
          </a:blip>
          <a:tile tx="0" ty="0" sx="100000" sy="100000" flip="none" algn="tl"/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"/>
          <p:cNvSpPr txBox="1"/>
          <p:nvPr/>
        </p:nvSpPr>
        <p:spPr>
          <a:xfrm>
            <a:off x="261257" y="5321712"/>
            <a:ext cx="10896599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IN" sz="2800" b="1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Capstone</a:t>
            </a:r>
            <a:r>
              <a:rPr lang="en-IN" sz="2800" b="1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Design Review Presentation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65176" y="5870448"/>
            <a:ext cx="108996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Sumeet Lakhwani  ·  Research Paper Navigator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E5FE501-52FC-9663-175F-EE814939F785}"/>
              </a:ext>
            </a:extLst>
          </p:cNvPr>
          <p:cNvSpPr txBox="1"/>
          <p:nvPr/>
        </p:nvSpPr>
        <p:spPr>
          <a:xfrm>
            <a:off x="859972" y="2488225"/>
            <a:ext cx="10472057" cy="136960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r>
              <a:rPr lang="en-IN" dirty="0"/>
              <a:t>Designing and Evaluating a Retrieval-Augmented LLM System</a:t>
            </a:r>
          </a:p>
          <a:p>
            <a:pPr algn="ctr"/>
            <a:r>
              <a:rPr lang="en-IN" dirty="0"/>
              <a:t>Sumeet Lakhwani  |  Research Paper Navigator</a:t>
            </a: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8859DA-4EBF-86FB-39DA-CC40AEFAA531}"/>
              </a:ext>
            </a:extLst>
          </p:cNvPr>
          <p:cNvSpPr txBox="1"/>
          <p:nvPr/>
        </p:nvSpPr>
        <p:spPr>
          <a:xfrm>
            <a:off x="1698574" y="3857831"/>
            <a:ext cx="930593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1800" b="0" i="0" u="none" strike="noStrike" dirty="0">
                <a:solidFill>
                  <a:srgbClr val="5F636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agent-based, security- and cost-hardened retrieval-augmented system over 153 real computer-science research papers — built incrementally across Capstone Checkpoints 1.1 through 7.1.</a:t>
            </a:r>
            <a:endParaRPr lang="en-IN" sz="2000" b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09ED82-7865-1E75-8005-E3EE187972A9}"/>
              </a:ext>
            </a:extLst>
          </p:cNvPr>
          <p:cNvSpPr txBox="1"/>
          <p:nvPr/>
        </p:nvSpPr>
        <p:spPr>
          <a:xfrm>
            <a:off x="707571" y="1487847"/>
            <a:ext cx="9143999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LLMs answer with </a:t>
            </a:r>
            <a:r>
              <a:rPr b="1" sz="2000"/>
              <a:t>total confidence</a:t>
            </a:r>
            <a:r>
              <a:rPr b="0" sz="2000"/>
              <a:t> — even when they're completely wrong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Checkpoint 1.1 proved it on this exact </a:t>
            </a:r>
            <a:r>
              <a:rPr b="1" sz="2000"/>
              <a:t>153-paper corpus</a:t>
            </a:r>
            <a:r>
              <a:rPr b="0" sz="2000"/>
              <a:t>: an invented title, a fabricated quote, a made-up statistic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A confidently wrong answer is </a:t>
            </a:r>
            <a:r>
              <a:rPr b="1" sz="2000"/>
              <a:t>more dangerous than no answer at all</a:t>
            </a:r>
            <a:r>
              <a:rPr b="0" sz="2000"/>
              <a:t> — that's the risk this system removes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3F64E-BE4D-D3DF-57D5-BF67AE1E9EDD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1AE4673-2310-7768-CAFE-C71E228846A7}"/>
              </a:ext>
            </a:extLst>
          </p:cNvPr>
          <p:cNvSpPr txBox="1"/>
          <p:nvPr/>
        </p:nvSpPr>
        <p:spPr>
          <a:xfrm>
            <a:off x="570586" y="696992"/>
            <a:ext cx="11069725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Five-stage pipeline (Checkpoints 2.1–7.1): retrieval, evaluation, agentic reasoning, security/cost hardening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A router sends simple questions to a single call; complex ones enter an agent loop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Answers are grounded strictly in retrieved documents — user input is treated as data, never instructions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CF4003-6B2E-87CF-2817-76889C6135B4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Solution</a:t>
            </a:r>
          </a:p>
        </p:txBody>
      </p:sp>
      <p:sp>
        <p:nvSpPr>
          <p:cNvPr id="6" name="Oval 5"/>
          <p:cNvSpPr/>
          <p:nvPr/>
        </p:nvSpPr>
        <p:spPr>
          <a:xfrm>
            <a:off x="1328623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User Question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Natural-language research question</a:t>
            </a:r>
          </a:p>
        </p:txBody>
      </p:sp>
      <p:sp>
        <p:nvSpPr>
          <p:cNvPr id="9" name="Oval 8"/>
          <p:cNvSpPr/>
          <p:nvPr/>
        </p:nvSpPr>
        <p:spPr>
          <a:xfrm>
            <a:off x="3620109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40126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840126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Sanitize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Strip injected instructions; escape untrusted text</a:t>
            </a:r>
          </a:p>
        </p:txBody>
      </p:sp>
      <p:sp>
        <p:nvSpPr>
          <p:cNvPr id="12" name="Oval 11"/>
          <p:cNvSpPr/>
          <p:nvPr/>
        </p:nvSpPr>
        <p:spPr>
          <a:xfrm>
            <a:off x="5911596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1612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131612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Route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Simple one-hop vs. multistep question</a:t>
            </a:r>
          </a:p>
        </p:txBody>
      </p:sp>
      <p:sp>
        <p:nvSpPr>
          <p:cNvPr id="15" name="Oval 14"/>
          <p:cNvSpPr/>
          <p:nvPr/>
        </p:nvSpPr>
        <p:spPr>
          <a:xfrm>
            <a:off x="8203082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3099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23099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Retrieve + Decide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BM25 + citation graph; agent loop, ≤ 3 rounds</a:t>
            </a:r>
          </a:p>
        </p:txBody>
      </p:sp>
      <p:sp>
        <p:nvSpPr>
          <p:cNvPr id="18" name="Oval 17"/>
          <p:cNvSpPr/>
          <p:nvPr/>
        </p:nvSpPr>
        <p:spPr>
          <a:xfrm>
            <a:off x="10494568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4585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0B4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714585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0B479C"/>
                </a:solidFill>
              </a:rPr>
              <a:t>Answer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Grounded only in retrieved documents (XML-hardened)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474366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765852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57339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348825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480060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ctr"/>
            <a:r>
              <a:rPr sz="1100" b="0">
                <a:solidFill>
                  <a:srgbClr val="202124"/>
                </a:solidFill>
              </a:rPr>
              <a:t>Router sends simple, one-hop questions straight to Answer in a single LLM call.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5F6368"/>
                </a:solidFill>
              </a:rPr>
              <a:t>Multistep questions iterate through Retrieve ⇄ Decide (agent loop, capped at 3 rounds) before answering.</a:t>
            </a:r>
          </a:p>
        </p:txBody>
      </p:sp>
    </p:spTree>
    <p:extLst>
      <p:ext uri="{BB962C8B-B14F-4D97-AF65-F5344CB8AC3E}">
        <p14:creationId xmlns:p14="http://schemas.microsoft.com/office/powerpoint/2010/main" val="3289224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E09B85-CBAA-6E41-F9C1-5D0C62D32631}"/>
              </a:ext>
            </a:extLst>
          </p:cNvPr>
          <p:cNvSpPr txBox="1"/>
          <p:nvPr/>
        </p:nvSpPr>
        <p:spPr>
          <a:xfrm>
            <a:off x="707571" y="1497600"/>
            <a:ext cx="914399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r>
              <a:rPr lang="en-IN" dirty="0"/>
              <a:t/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BM25 keyword baseline (2.1), extended with a citation + same-author graph (4.1) to reach papers keyword search alone can't surface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LLM-judge evaluation: pass/fail on written grading notes, </a:t>
            </a:r>
            <a:r>
              <a:rPr b="1" sz="2000"/>
              <a:t>5 fixed questions</a:t>
            </a:r>
            <a:r>
              <a:rPr b="0" sz="2000"/>
              <a:t>, unchanged across every checkpoint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Graph retrieval fixed one failure (unreachable at rank ~122) but regressed another — net pass rate unchanged: </a:t>
            </a:r>
            <a:r>
              <a:rPr b="1" sz="2000"/>
              <a:t>4/5</a:t>
            </a:r>
            <a:r>
              <a:rPr b="0" sz="2000"/>
              <a:t> before and after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Measured fixes for hallucination, injection, and cost — but a citation-year bug persists, unresolved, across </a:t>
            </a:r>
            <a:r>
              <a:rPr b="1" sz="2000"/>
              <a:t>5 checkpoints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08B99-26E8-96E3-B453-DEED97ED3C1F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Retrieval and Evaluation</a:t>
            </a:r>
          </a:p>
        </p:txBody>
      </p:sp>
    </p:spTree>
    <p:extLst>
      <p:ext uri="{BB962C8B-B14F-4D97-AF65-F5344CB8AC3E}">
        <p14:creationId xmlns:p14="http://schemas.microsoft.com/office/powerpoint/2010/main" val="3987153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631922-EDA2-CA93-9A0A-C814D5C410DE}"/>
              </a:ext>
            </a:extLst>
          </p:cNvPr>
          <p:cNvSpPr txBox="1"/>
          <p:nvPr/>
        </p:nvSpPr>
        <p:spPr>
          <a:xfrm>
            <a:off x="707571" y="1497600"/>
            <a:ext cx="914399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Chose BM25 over embeddings — free, deterministic, strong on this corpus's precise vocabulary; semantic retrieval deferred, not hidden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Citation graph built from filename + text conventions, not a new ML model — cheap and hand-verifiable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Every technique kept the baseline's exact document budget — what honestly exposed the </a:t>
            </a:r>
            <a:r>
              <a:rPr b="1" sz="2000"/>
              <a:t>Checkpoint 4.1 trade-off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By 7.1: no single safeguard is enough — chose layered, partial defenses over one “complete” fix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2D5CD-CEED-CAF9-8E1C-650675A313C3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Engineering Decisions</a:t>
            </a:r>
          </a:p>
        </p:txBody>
      </p:sp>
    </p:spTree>
    <p:extLst>
      <p:ext uri="{BB962C8B-B14F-4D97-AF65-F5344CB8AC3E}">
        <p14:creationId xmlns:p14="http://schemas.microsoft.com/office/powerpoint/2010/main" val="684907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8013A2-70CA-8E35-F3F3-F40CD428166B}"/>
              </a:ext>
            </a:extLst>
          </p:cNvPr>
          <p:cNvSpPr txBox="1"/>
          <p:nvPr/>
        </p:nvSpPr>
        <p:spPr>
          <a:xfrm>
            <a:off x="707571" y="1497600"/>
            <a:ext cx="9143999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Citation-year misattribution (unresolved, </a:t>
            </a:r>
            <a:r>
              <a:rPr b="1" sz="2000"/>
              <a:t>5+ checkpoints</a:t>
            </a:r>
            <a:r>
              <a:rPr b="0" sz="2000"/>
              <a:t>) and BM25 ranking the same need </a:t>
            </a:r>
            <a:r>
              <a:rPr b="1" sz="2000"/>
              <a:t>8th to 28th</a:t>
            </a:r>
            <a:r>
              <a:rPr b="0" sz="2000"/>
              <a:t> purely by phrasing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The agent is non-deterministic: identical input can take a different path and reach a different conclusion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Next: year-disambiguation in the main retrieval path, a query-extraction step before BM25, a semantic cache, and broader stability testing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8822D8-D529-2998-D46B-41BB9F87B091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Limitations and Future Improvements</a:t>
            </a:r>
          </a:p>
        </p:txBody>
      </p:sp>
    </p:spTree>
    <p:extLst>
      <p:ext uri="{BB962C8B-B14F-4D97-AF65-F5344CB8AC3E}">
        <p14:creationId xmlns:p14="http://schemas.microsoft.com/office/powerpoint/2010/main" val="2040043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60254CD-0903-966C-40EF-C5EBA490158C}"/>
              </a:ext>
            </a:extLst>
          </p:cNvPr>
          <p:cNvSpPr txBox="1"/>
          <p:nvPr/>
        </p:nvSpPr>
        <p:spPr>
          <a:xfrm>
            <a:off x="707571" y="1497600"/>
            <a:ext cx="914399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algn="l"/>
            <a:r>
              <a:rPr lang="en-US" sz="2400" b="1" dirty="0">
                <a:solidFill>
                  <a:schemeClr val="tx1"/>
                </a:solidFill>
              </a:rPr>
              <a:t>Thank you!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0" dirty="0">
              <a:solidFill>
                <a:schemeClr val="tx1"/>
              </a:solidFill>
            </a:endParaRPr>
          </a:p>
          <a:p>
            <a:pPr algn="l"/>
            <a:r>
              <a:rPr lang="en-US" sz="2000" b="0" dirty="0">
                <a:solidFill>
                  <a:schemeClr val="tx1"/>
                </a:solidFill>
              </a:rPr>
              <a:t>Happy to go deeper on: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Design rationale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Evaluation evidence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Engineering trade-offs</a:t>
            </a:r>
          </a:p>
          <a:p>
            <a:pPr algn="l"/>
            <a:br>
              <a:rPr lang="en-IN" dirty="0"/>
            </a:br>
            <a:r>
              <a:rPr sz="1600" b="0">
                <a:solidFill>
                  <a:srgbClr val="5F6368"/>
                </a:solidFill>
              </a:rPr>
              <a:t>Code and evidence:  github.com/slakhwa/mit-rag-context-eng-capstone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4D497-87C5-39D6-FAF0-4FE272E0EB7E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3937486198"/>
      </p:ext>
    </p:extLst>
  </p:cSld>
  <p:clrMapOvr>
    <a:masterClrMapping/>
  </p:clrMapOvr>
</p:sld>
</file>

<file path=ppt/theme/theme1.xml><?xml version="1.0" encoding="utf-8"?>
<a:theme xmlns:a="http://schemas.openxmlformats.org/drawingml/2006/main" name="1_MIT PE">
  <a:themeElements>
    <a:clrScheme name="Blue Warm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1996</Words>
  <Application>Microsoft Macintosh PowerPoint</Application>
  <PresentationFormat>Widescreen</PresentationFormat>
  <Paragraphs>89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1_MIT PE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 Shilpiya</dc:creator>
  <cp:lastModifiedBy>Sumeet Lakhwani</cp:lastModifiedBy>
  <cp:revision>3</cp:revision>
  <dcterms:created xsi:type="dcterms:W3CDTF">2018-11-05T13:58:18Z</dcterms:created>
  <dcterms:modified xsi:type="dcterms:W3CDTF">2026-10-28T03:38:50Z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0x010100296DC331548237488BA9A87C5C22BBA4</vt:lpwstr>
  </property>
  <property fmtid="{D5CDD505-2E9C-101B-9397-08002B2CF9AE}" pid="3" name="ArticulateGUID">
    <vt:lpwstr>405BEB8A-A8B9-422E-86C1-391F774E521D</vt:lpwstr>
  </property>
  <property fmtid="{D5CDD505-2E9C-101B-9397-08002B2CF9AE}" pid="4" name="ArticulatePath">
    <vt:lpwstr>MIT_xPRO_PPT_Template</vt:lpwstr>
  </property>
</Properties>
</file>