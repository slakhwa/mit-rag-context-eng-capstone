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jxgbYjccChfboh+PxKghejRKdfEQ=="/>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31F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8277F1-729D-4533-9937-95B36D51CB5B}" v="2" dt="2026-08-06T07:05:58.9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5694"/>
  </p:normalViewPr>
  <p:slideViewPr>
    <p:cSldViewPr snapToGrid="0">
      <p:cViewPr varScale="1">
        <p:scale>
          <a:sx n="96" d="100"/>
          <a:sy n="96" d="100"/>
        </p:scale>
        <p:origin x="192" y="3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customschemas.google.com/relationships/presentationmetadata" Target="meta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izza Maira" userId="d0a25a6f-4008-4c86-8740-27856525f3e1" providerId="ADAL" clId="{A44FACB3-3A32-418A-B1D8-F602B668736A}"/>
    <pc:docChg chg="undo custSel addSld modSld">
      <pc:chgData name="Fizza Maira" userId="d0a25a6f-4008-4c86-8740-27856525f3e1" providerId="ADAL" clId="{A44FACB3-3A32-418A-B1D8-F602B668736A}" dt="2026-08-06T07:13:10.115" v="595" actId="1076"/>
      <pc:docMkLst>
        <pc:docMk/>
      </pc:docMkLst>
      <pc:sldChg chg="modSp mod">
        <pc:chgData name="Fizza Maira" userId="d0a25a6f-4008-4c86-8740-27856525f3e1" providerId="ADAL" clId="{A44FACB3-3A32-418A-B1D8-F602B668736A}" dt="2026-08-06T06:56:31.796" v="66" actId="207"/>
        <pc:sldMkLst>
          <pc:docMk/>
          <pc:sldMk cId="0" sldId="256"/>
        </pc:sldMkLst>
        <pc:spChg chg="mod">
          <ac:chgData name="Fizza Maira" userId="d0a25a6f-4008-4c86-8740-27856525f3e1" providerId="ADAL" clId="{A44FACB3-3A32-418A-B1D8-F602B668736A}" dt="2026-08-06T06:56:31.796" v="66" actId="207"/>
          <ac:spMkLst>
            <pc:docMk/>
            <pc:sldMk cId="0" sldId="256"/>
            <ac:spMk id="94" creationId="{00000000-0000-0000-0000-000000000000}"/>
          </ac:spMkLst>
        </pc:spChg>
      </pc:sldChg>
      <pc:sldChg chg="addSp delSp modSp mod">
        <pc:chgData name="Fizza Maira" userId="d0a25a6f-4008-4c86-8740-27856525f3e1" providerId="ADAL" clId="{A44FACB3-3A32-418A-B1D8-F602B668736A}" dt="2026-08-06T06:59:42.372" v="125" actId="1036"/>
        <pc:sldMkLst>
          <pc:docMk/>
          <pc:sldMk cId="0" sldId="257"/>
        </pc:sldMkLst>
        <pc:spChg chg="add mod">
          <ac:chgData name="Fizza Maira" userId="d0a25a6f-4008-4c86-8740-27856525f3e1" providerId="ADAL" clId="{A44FACB3-3A32-418A-B1D8-F602B668736A}" dt="2026-08-06T06:56:48.518" v="69" actId="122"/>
          <ac:spMkLst>
            <pc:docMk/>
            <pc:sldMk cId="0" sldId="257"/>
            <ac:spMk id="3" creationId="{6E5FE501-52FC-9663-175F-EE814939F785}"/>
          </ac:spMkLst>
        </pc:spChg>
        <pc:spChg chg="add mod">
          <ac:chgData name="Fizza Maira" userId="d0a25a6f-4008-4c86-8740-27856525f3e1" providerId="ADAL" clId="{A44FACB3-3A32-418A-B1D8-F602B668736A}" dt="2026-08-06T06:59:42.372" v="125" actId="1036"/>
          <ac:spMkLst>
            <pc:docMk/>
            <pc:sldMk cId="0" sldId="257"/>
            <ac:spMk id="5" creationId="{F18859DA-4EBF-86FB-39DA-CC40AEFAA531}"/>
          </ac:spMkLst>
        </pc:spChg>
        <pc:spChg chg="add del mod">
          <ac:chgData name="Fizza Maira" userId="d0a25a6f-4008-4c86-8740-27856525f3e1" providerId="ADAL" clId="{A44FACB3-3A32-418A-B1D8-F602B668736A}" dt="2026-08-06T06:56:56.706" v="71" actId="478"/>
          <ac:spMkLst>
            <pc:docMk/>
            <pc:sldMk cId="0" sldId="257"/>
            <ac:spMk id="7" creationId="{47ACB267-F7CA-D45F-F1B9-E208296EE326}"/>
          </ac:spMkLst>
        </pc:spChg>
        <pc:spChg chg="add del mod">
          <ac:chgData name="Fizza Maira" userId="d0a25a6f-4008-4c86-8740-27856525f3e1" providerId="ADAL" clId="{A44FACB3-3A32-418A-B1D8-F602B668736A}" dt="2026-08-06T06:56:52.400" v="70" actId="478"/>
          <ac:spMkLst>
            <pc:docMk/>
            <pc:sldMk cId="0" sldId="257"/>
            <ac:spMk id="9" creationId="{8C2CC35A-C1C4-C9E7-86A2-232A1BAC361B}"/>
          </ac:spMkLst>
        </pc:spChg>
      </pc:sldChg>
      <pc:sldChg chg="addSp delSp modSp mod">
        <pc:chgData name="Fizza Maira" userId="d0a25a6f-4008-4c86-8740-27856525f3e1" providerId="ADAL" clId="{A44FACB3-3A32-418A-B1D8-F602B668736A}" dt="2026-08-06T07:07:56.465" v="389" actId="1035"/>
        <pc:sldMkLst>
          <pc:docMk/>
          <pc:sldMk cId="0" sldId="258"/>
        </pc:sldMkLst>
        <pc:spChg chg="add mod">
          <ac:chgData name="Fizza Maira" userId="d0a25a6f-4008-4c86-8740-27856525f3e1" providerId="ADAL" clId="{A44FACB3-3A32-418A-B1D8-F602B668736A}" dt="2026-08-06T07:07:56.465" v="389" actId="1035"/>
          <ac:spMkLst>
            <pc:docMk/>
            <pc:sldMk cId="0" sldId="258"/>
            <ac:spMk id="3" creationId="{9809ED82-7865-1E75-8005-E3EE187972A9}"/>
          </ac:spMkLst>
        </pc:spChg>
        <pc:spChg chg="add del">
          <ac:chgData name="Fizza Maira" userId="d0a25a6f-4008-4c86-8740-27856525f3e1" providerId="ADAL" clId="{A44FACB3-3A32-418A-B1D8-F602B668736A}" dt="2026-08-06T06:57:33.761" v="75" actId="22"/>
          <ac:spMkLst>
            <pc:docMk/>
            <pc:sldMk cId="0" sldId="258"/>
            <ac:spMk id="5" creationId="{8F03CF5C-94F2-6975-E3F3-1B4B69AD5D5D}"/>
          </ac:spMkLst>
        </pc:spChg>
        <pc:spChg chg="add del mod">
          <ac:chgData name="Fizza Maira" userId="d0a25a6f-4008-4c86-8740-27856525f3e1" providerId="ADAL" clId="{A44FACB3-3A32-418A-B1D8-F602B668736A}" dt="2026-08-06T06:58:06.206" v="84" actId="21"/>
          <ac:spMkLst>
            <pc:docMk/>
            <pc:sldMk cId="0" sldId="258"/>
            <ac:spMk id="7" creationId="{22D905D9-AAC5-3957-E29C-1F3E78727844}"/>
          </ac:spMkLst>
        </pc:spChg>
        <pc:spChg chg="add mod">
          <ac:chgData name="Fizza Maira" userId="d0a25a6f-4008-4c86-8740-27856525f3e1" providerId="ADAL" clId="{A44FACB3-3A32-418A-B1D8-F602B668736A}" dt="2026-08-06T07:07:18.056" v="299" actId="12788"/>
          <ac:spMkLst>
            <pc:docMk/>
            <pc:sldMk cId="0" sldId="258"/>
            <ac:spMk id="9" creationId="{73F3F64E-BE4D-D3DF-57D5-BF67AE1E9EDD}"/>
          </ac:spMkLst>
        </pc:spChg>
      </pc:sldChg>
      <pc:sldChg chg="addSp modSp new mod">
        <pc:chgData name="Fizza Maira" userId="d0a25a6f-4008-4c86-8740-27856525f3e1" providerId="ADAL" clId="{A44FACB3-3A32-418A-B1D8-F602B668736A}" dt="2026-08-06T07:08:22.098" v="420" actId="1035"/>
        <pc:sldMkLst>
          <pc:docMk/>
          <pc:sldMk cId="3289224814" sldId="259"/>
        </pc:sldMkLst>
        <pc:spChg chg="add mod">
          <ac:chgData name="Fizza Maira" userId="d0a25a6f-4008-4c86-8740-27856525f3e1" providerId="ADAL" clId="{A44FACB3-3A32-418A-B1D8-F602B668736A}" dt="2026-08-06T07:08:22.098" v="420" actId="1035"/>
          <ac:spMkLst>
            <pc:docMk/>
            <pc:sldMk cId="3289224814" sldId="259"/>
            <ac:spMk id="3" creationId="{31AE4673-2310-7768-CAFE-C71E228846A7}"/>
          </ac:spMkLst>
        </pc:spChg>
        <pc:spChg chg="add mod">
          <ac:chgData name="Fizza Maira" userId="d0a25a6f-4008-4c86-8740-27856525f3e1" providerId="ADAL" clId="{A44FACB3-3A32-418A-B1D8-F602B668736A}" dt="2026-08-06T07:07:48.107" v="348" actId="20577"/>
          <ac:spMkLst>
            <pc:docMk/>
            <pc:sldMk cId="3289224814" sldId="259"/>
            <ac:spMk id="5" creationId="{98CF4003-6B2E-87CF-2817-76889C6135B4}"/>
          </ac:spMkLst>
        </pc:spChg>
      </pc:sldChg>
      <pc:sldChg chg="addSp modSp new mod">
        <pc:chgData name="Fizza Maira" userId="d0a25a6f-4008-4c86-8740-27856525f3e1" providerId="ADAL" clId="{A44FACB3-3A32-418A-B1D8-F602B668736A}" dt="2026-08-06T07:10:21.214" v="482"/>
        <pc:sldMkLst>
          <pc:docMk/>
          <pc:sldMk cId="3987153470" sldId="260"/>
        </pc:sldMkLst>
        <pc:spChg chg="add mod">
          <ac:chgData name="Fizza Maira" userId="d0a25a6f-4008-4c86-8740-27856525f3e1" providerId="ADAL" clId="{A44FACB3-3A32-418A-B1D8-F602B668736A}" dt="2026-08-06T07:09:54.338" v="481" actId="1076"/>
          <ac:spMkLst>
            <pc:docMk/>
            <pc:sldMk cId="3987153470" sldId="260"/>
            <ac:spMk id="3" creationId="{FBE09B85-CBAA-6E41-F9C1-5D0C62D32631}"/>
          </ac:spMkLst>
        </pc:spChg>
        <pc:spChg chg="add mod">
          <ac:chgData name="Fizza Maira" userId="d0a25a6f-4008-4c86-8740-27856525f3e1" providerId="ADAL" clId="{A44FACB3-3A32-418A-B1D8-F602B668736A}" dt="2026-08-06T07:10:21.214" v="482"/>
          <ac:spMkLst>
            <pc:docMk/>
            <pc:sldMk cId="3987153470" sldId="260"/>
            <ac:spMk id="5" creationId="{E2D08B99-26E8-96E3-B453-DEED97ED3C1F}"/>
          </ac:spMkLst>
        </pc:spChg>
      </pc:sldChg>
      <pc:sldChg chg="addSp modSp new mod">
        <pc:chgData name="Fizza Maira" userId="d0a25a6f-4008-4c86-8740-27856525f3e1" providerId="ADAL" clId="{A44FACB3-3A32-418A-B1D8-F602B668736A}" dt="2026-08-06T07:11:25.705" v="519" actId="1076"/>
        <pc:sldMkLst>
          <pc:docMk/>
          <pc:sldMk cId="684907484" sldId="261"/>
        </pc:sldMkLst>
        <pc:spChg chg="add mod">
          <ac:chgData name="Fizza Maira" userId="d0a25a6f-4008-4c86-8740-27856525f3e1" providerId="ADAL" clId="{A44FACB3-3A32-418A-B1D8-F602B668736A}" dt="2026-08-06T07:11:25.705" v="519" actId="1076"/>
          <ac:spMkLst>
            <pc:docMk/>
            <pc:sldMk cId="684907484" sldId="261"/>
            <ac:spMk id="3" creationId="{F6631922-EDA2-CA93-9A0A-C814D5C410DE}"/>
          </ac:spMkLst>
        </pc:spChg>
        <pc:spChg chg="add mod">
          <ac:chgData name="Fizza Maira" userId="d0a25a6f-4008-4c86-8740-27856525f3e1" providerId="ADAL" clId="{A44FACB3-3A32-418A-B1D8-F602B668736A}" dt="2026-08-06T07:10:54.305" v="515"/>
          <ac:spMkLst>
            <pc:docMk/>
            <pc:sldMk cId="684907484" sldId="261"/>
            <ac:spMk id="5" creationId="{BC92D5CD-CEED-CAF9-8E1C-650675A313C3}"/>
          </ac:spMkLst>
        </pc:spChg>
      </pc:sldChg>
      <pc:sldChg chg="addSp modSp new mod">
        <pc:chgData name="Fizza Maira" userId="d0a25a6f-4008-4c86-8740-27856525f3e1" providerId="ADAL" clId="{A44FACB3-3A32-418A-B1D8-F602B668736A}" dt="2026-08-06T07:12:09.100" v="557" actId="1076"/>
        <pc:sldMkLst>
          <pc:docMk/>
          <pc:sldMk cId="2040043498" sldId="262"/>
        </pc:sldMkLst>
        <pc:spChg chg="add mod">
          <ac:chgData name="Fizza Maira" userId="d0a25a6f-4008-4c86-8740-27856525f3e1" providerId="ADAL" clId="{A44FACB3-3A32-418A-B1D8-F602B668736A}" dt="2026-08-06T07:12:09.100" v="557" actId="1076"/>
          <ac:spMkLst>
            <pc:docMk/>
            <pc:sldMk cId="2040043498" sldId="262"/>
            <ac:spMk id="3" creationId="{158013A2-70CA-8E35-F3F3-F40CD428166B}"/>
          </ac:spMkLst>
        </pc:spChg>
        <pc:spChg chg="add mod">
          <ac:chgData name="Fizza Maira" userId="d0a25a6f-4008-4c86-8740-27856525f3e1" providerId="ADAL" clId="{A44FACB3-3A32-418A-B1D8-F602B668736A}" dt="2026-08-06T07:11:53.354" v="555"/>
          <ac:spMkLst>
            <pc:docMk/>
            <pc:sldMk cId="2040043498" sldId="262"/>
            <ac:spMk id="5" creationId="{688822D8-D529-2998-D46B-41BB9F87B091}"/>
          </ac:spMkLst>
        </pc:spChg>
      </pc:sldChg>
      <pc:sldChg chg="addSp modSp new mod">
        <pc:chgData name="Fizza Maira" userId="d0a25a6f-4008-4c86-8740-27856525f3e1" providerId="ADAL" clId="{A44FACB3-3A32-418A-B1D8-F602B668736A}" dt="2026-08-06T07:13:10.115" v="595" actId="1076"/>
        <pc:sldMkLst>
          <pc:docMk/>
          <pc:sldMk cId="3937486198" sldId="263"/>
        </pc:sldMkLst>
        <pc:spChg chg="add mod">
          <ac:chgData name="Fizza Maira" userId="d0a25a6f-4008-4c86-8740-27856525f3e1" providerId="ADAL" clId="{A44FACB3-3A32-418A-B1D8-F602B668736A}" dt="2026-08-06T07:13:10.115" v="595" actId="1076"/>
          <ac:spMkLst>
            <pc:docMk/>
            <pc:sldMk cId="3937486198" sldId="263"/>
            <ac:spMk id="3" creationId="{460254CD-0903-966C-40EF-C5EBA490158C}"/>
          </ac:spMkLst>
        </pc:spChg>
        <pc:spChg chg="add mod">
          <ac:chgData name="Fizza Maira" userId="d0a25a6f-4008-4c86-8740-27856525f3e1" providerId="ADAL" clId="{A44FACB3-3A32-418A-B1D8-F602B668736A}" dt="2026-08-06T07:12:49.659" v="592"/>
          <ac:spMkLst>
            <pc:docMk/>
            <pc:sldMk cId="3937486198" sldId="263"/>
            <ac:spMk id="5" creationId="{7FE4D497-87C5-39D6-FAF0-4FE272E0EB7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[Hold this slide ~5 seconds while you start speaking.]</a:t>
            </a:r>
          </a:p>
          <a:p/>
          <a:p>
            <a:r>
              <a:t>OPEN: "Hello — welcome to my capstone design review."</a:t>
            </a:r>
          </a:p>
          <a:p/>
          <a:p>
            <a:r>
              <a:t>Then advance to the next slide to introduce yourself.</a:t>
            </a:r>
          </a:p>
        </p:txBody>
      </p:sp>
      <p:sp>
        <p:nvSpPr>
          <p:cNvPr id="92" name="Google Shape;9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OPEN: "Hi, I'm Sumeet. This is my capstone design review for the Research Paper Navigator — a retrieval-augmented LLM system built incrementally across all eight checkpoints of this program."</a:t>
            </a:r>
          </a:p>
          <a:p/>
          <a:p>
            <a:r>
              <a:t>ROADMAP (say as one flowing sentence): "Over the next few minutes I'll cover:</a:t>
            </a:r>
          </a:p>
          <a:p>
            <a:r>
              <a:t>  1. the problem it solves,</a:t>
            </a:r>
          </a:p>
          <a:p>
            <a:r>
              <a:t>  2. how the system works,</a:t>
            </a:r>
          </a:p>
          <a:p>
            <a:r>
              <a:t>  3. how I evaluated it,</a:t>
            </a:r>
          </a:p>
          <a:p>
            <a:r>
              <a:t>  4. the key engineering decisions and trade-offs behind it,</a:t>
            </a:r>
          </a:p>
          <a:p>
            <a:r>
              <a:t>  5. and what's still left to improve."</a:t>
            </a:r>
          </a:p>
          <a:p/>
          <a:p>
            <a:r>
              <a:t>TRANSITION: "Let me start with the problem."</a:t>
            </a:r>
          </a:p>
        </p:txBody>
      </p:sp>
      <p:sp>
        <p:nvSpPr>
          <p:cNvPr id="97" name="Google Shape;9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HOOK: "Large language models answer with total confidence — even when they're completely wrong."</a:t>
            </a:r>
          </a:p>
          <a:p/>
          <a:p>
            <a:r>
              <a:t>[Pause one beat — let the hook land.]</a:t>
            </a:r>
          </a:p>
          <a:p/>
          <a:p>
            <a:r>
              <a:t>PROOF: "That's not hypothetical for this project. In Checkpoint 1.1, I tested a bare LLM — no retrieval at all — on the exact corpus this system covers: 153 computer-science research papers in program synthesis, programming languages, and neuro-symbolic AI. It hallucinated three different ways:</a:t>
            </a:r>
          </a:p>
          <a:p>
            <a:r>
              <a:t>  1. it invented a wrong title for a real paper,</a:t>
            </a:r>
          </a:p>
          <a:p>
            <a:r>
              <a:t>  2. it fabricated a verbatim quote that doesn't exist anywhere in the text,</a:t>
            </a:r>
          </a:p>
          <a:p>
            <a:r>
              <a:t>  3. and it made up a precise-sounding performance statistic comparing two systems.</a:t>
            </a:r>
          </a:p>
          <a:p>
            <a:r>
              <a:t>Every one of those wrong answers was stated with full, unhedged confidence."</a:t>
            </a:r>
          </a:p>
          <a:p/>
          <a:p>
            <a:r>
              <a:t>STAKES: "For a researcher or student who needs citable, trustworthy answers, a confidently wrong answer is more dangerous than no answer at all. That is the problem this system is built to remove."</a:t>
            </a:r>
          </a:p>
          <a:p/>
          <a:p>
            <a:r>
              <a:t>TRANSITION: "So here's how the system removes it."</a:t>
            </a:r>
          </a:p>
        </p:txBody>
      </p:sp>
      <p:sp>
        <p:nvSpPr>
          <p:cNvPr id="102" name="Google Shape;10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OPEN: "At a high level, the system is a five-stage pipeline, built up incrementally across the program."</a:t>
            </a:r>
          </a:p>
          <a:p/>
          <a:p>
            <a:r>
              <a:t>[Walk the diagram left to right, pointing at each numbered card.]</a:t>
            </a:r>
          </a:p>
          <a:p/>
          <a:p>
            <a:r>
              <a:t>STAGE 1 — User Question: "A natural-language research question comes in."</a:t>
            </a:r>
          </a:p>
          <a:p/>
          <a:p>
            <a:r>
              <a:t>STAGE 2 — Sanitize: "An input sanitizer strips injected instructions and escapes untrusted text."</a:t>
            </a:r>
          </a:p>
          <a:p/>
          <a:p>
            <a:r>
              <a:t>STAGE 3 — Route: "A router decides: simple one-hop question, or a multistep one?"</a:t>
            </a:r>
          </a:p>
          <a:p/>
          <a:p>
            <a:r>
              <a:t>STAGE 4 — Retrieve + Decide: "Retrieval runs against a BM25 keyword index over all 153 papers — about 15,500 passages of 250 words each, with 50-word overlap — extended with a citation graph. For multistep questions, an agent loop takes over: a planner looks at what's been retrieved, decides whether it's enough, and if not issues a new, targeted search — up to three rounds."</a:t>
            </a:r>
          </a:p>
          <a:p/>
          <a:p>
            <a:r>
              <a:t>STAGE 5 — Answer: "A final generation call produces the response, strictly grounded in the retrieved documents. Everything else in the prompt — including the user's own question text — is treated as data, never as instructions."</a:t>
            </a:r>
          </a:p>
          <a:p/>
          <a:p>
            <a:r>
              <a:t>TRANSITION: "That data-versus-instructions boundary is the backbone of the security hardening — I'll come back to it. First: how do I know this works?"</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OPEN: "So — how do I know this works? Let me show you the evidence."</a:t>
            </a:r>
          </a:p>
          <a:p/>
          <a:p>
            <a:r>
              <a:t>BASELINE (2.1): "I started simple. The baseline is plain BM25 keyword search. It's fast. It's free. And it gives the same answer every time. On academic papers full of precise technical terms, keyword matching gets you a long way."</a:t>
            </a:r>
          </a:p>
          <a:p/>
          <a:p>
            <a:r>
              <a:t>EVALUATION (3.1): "Before improving anything, I built the measuring stick. Five representative questions. Written grading notes for each one. An LLM judge scores every answer — pass or fail. And here's the important part: that question set never changed. Same five questions, every checkpoint. That's what keeps my before-and-after comparisons honest."</a:t>
            </a:r>
          </a:p>
          <a:p/>
          <a:p>
            <a:r>
              <a:t>KEY RESULT (4.1): "Now — the most interesting result of the whole program. I found a real retrieval failure. I asked about a specific 2018 paper by Ellis and colleagues. The system never retrieved that paper. Why? Because a different paper that merely cited it used the same keywords more often. So it ranked higher. My fix: a citation graph, built from the corpus itself, that follows the citation links to the real paper."</a:t>
            </a:r>
          </a:p>
          <a:p/>
          <a:p>
            <a:r>
              <a:t>THE TWIST: "Did it work? Yes — on that question. But watch what happened. A different question, one that used to pass... started failing. The new paper I pulled in pushed out a chunk the other question needed. Final score: four out of five. Before the fix — and after. Same number."</a:t>
            </a:r>
          </a:p>
          <a:p/>
          <a:p>
            <a:r>
              <a:t>[Pause one beat.]</a:t>
            </a:r>
          </a:p>
          <a:p/>
          <a:p>
            <a:r>
              <a:t>LESSON: "With a fixed context budget, a retrieval improvement is never a free win. It's a trade."</a:t>
            </a:r>
          </a:p>
          <a:p/>
          <a:p>
            <a:r>
              <a:t>FLAG FORWARD: "One more thing. There's a bug where the system confuses a 2018 paper with a later paper by the same authors. It showed up in Checkpoint 5.1. It was still there in 7.1. I'll come back to that."</a:t>
            </a:r>
          </a:p>
          <a:p/>
          <a:p>
            <a:r>
              <a:t>TRANSITION: "These results drove every design decision. Let me walk you through the big four."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OPEN: "Four decisions shaped this system. For each one, I'll give you the choice — and the reason."</a:t>
            </a:r>
          </a:p>
          <a:p/>
          <a:p>
            <a:r>
              <a:t>DECISION 1 — keywords over embeddings: "First: keyword search over embeddings. Why? Look at what's in this corpus. Author names. Algorithm names. Exact technical terms. That's exactly where keyword matching is strongest — and where embeddings can actually do worse. So semantic search isn't missing from this system. It's deferred. Deliberately."</a:t>
            </a:r>
          </a:p>
          <a:p/>
          <a:p>
            <a:r>
              <a:t>DECISION 2 — a graph, not a model: "Second: for citation-aware retrieval, I built a simple graph instead of training a model. It comes straight from the corpus's own filenames and citation mentions. And because it's simple, I could check it by hand. 'Ellis et al., 2018' links to the 2018 paper — not to everything Ellis ever wrote. I verified that before I trusted it."</a:t>
            </a:r>
          </a:p>
          <a:p/>
          <a:p>
            <a:r>
              <a:t>DECISION 3 — same budget for everything: "Third: every new technique got the exact same document budget as the baseline. No quiet advantages. That rule is what exposed the trade-off I just showed you. And that's the point — a comparison that hides the cost isn't a comparison."</a:t>
            </a:r>
          </a:p>
          <a:p/>
          <a:p>
            <a:r>
              <a:t>DECISION 4 — layered defenses: "Fourth: security. There is no single, complete fix — and I tested that directly. I extended my input sanitizer. It closed two real gaps. But the very same change raised token cost by sixty-five percent. And it brought back a citation bug the old version had avoided. So I chose layered, partial defenses — and I reported the side effects, instead of claiming a clean win."</a:t>
            </a:r>
          </a:p>
          <a:p/>
          <a:p>
            <a:r>
              <a:t>TRANSITION: "Which brings me to what's still open."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OPEN: "No system like this is ever finished. So let me be specific about what's still broken."</a:t>
            </a:r>
          </a:p>
          <a:p/>
          <a:p>
            <a:r>
              <a:t>LIMITATION 1 — citation-year misattribution: "Number one. The most stubborn bug: citation-year misattribution. Ask about a specific 2018 paper, and the system can answer from a different paper — same authors, different year. It appeared in Checkpoint 5.1. It was still there in 7.1. And none of my security or cost work touches it. Because it isn't a security problem. It's a correctness problem. It needs its own fix."</a:t>
            </a:r>
          </a:p>
          <a:p/>
          <a:p>
            <a:r>
              <a:t>LIMITATION 2 — phrasing sensitivity: "Number two: phrasing. The same question, worded differently, can rank the target paper anywhere from 8th... to 28th. I measured that directly. And it has a security angle. My sanitizer strips an attack's trigger words — but the leftover words can still bury the right document. A blocklist stops instructions. It doesn't stop verbosity."</a:t>
            </a:r>
          </a:p>
          <a:p/>
          <a:p>
            <a:r>
              <a:t>LIMITATION 3 — non-determinism: "Number three: the agent isn't deterministic. Same question. Two runs. A different number of searches — and a different conclusion."</a:t>
            </a:r>
          </a:p>
          <a:p/>
          <a:p>
            <a:r>
              <a:t>NEXT PRIORITIES: "So if I kept going — three priorities. One: put year-disambiguation into the main retrieval path. Two: extract a short core query before search runs — the only approach I've found that actually beats verbosity. Three: a semantic cache, so a rephrased question still gets the savings."</a:t>
            </a:r>
          </a:p>
          <a:p/>
          <a:p>
            <a:r>
              <a:t>TRANSITION: "And with that — let me close."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CLOSE: "That's the Research Paper Navigator. Thank you."</a:t>
            </a:r>
          </a:p>
          <a:p/>
          <a:p>
            <a:r>
              <a:t>OFFER: "I'm happy to go deeper on any decision, any number, or any trade-off you've seen today."</a:t>
            </a:r>
          </a:p>
          <a:p/>
          <a:p>
            <a:r>
              <a:t>POINTER: "And everything I've shown you — the code, the worksheets, the evidence — is in the GitHub repository on this slide."</a:t>
            </a:r>
          </a:p>
          <a:p/>
          <a:p>
            <a:r>
              <a:t>[Hold for 2–3 seconds, then end the recording.]</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Blank" type="blank">
  <p:cSld name="BLANK">
    <p:spTree>
      <p:nvGrpSpPr>
        <p:cNvPr id="1" name="Shape 15"/>
        <p:cNvGrpSpPr/>
        <p:nvPr/>
      </p:nvGrpSpPr>
      <p:grpSpPr>
        <a:xfrm>
          <a:off x="0" y="0"/>
          <a:ext cx="0" cy="0"/>
          <a:chOff x="0" y="0"/>
          <a:chExt cx="0" cy="0"/>
        </a:xfrm>
      </p:grpSpPr>
      <p:pic>
        <p:nvPicPr>
          <p:cNvPr id="16" name="Google Shape;16;p5"/>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17" name="Google Shape;17;p5"/>
          <p:cNvPicPr preferRelativeResize="0"/>
          <p:nvPr/>
        </p:nvPicPr>
        <p:blipFill rotWithShape="1">
          <a:blip r:embed="rId3">
            <a:alphaModFix/>
          </a:blip>
          <a:srcRect/>
          <a:stretch/>
        </p:blipFill>
        <p:spPr>
          <a:xfrm>
            <a:off x="0" y="4419600"/>
            <a:ext cx="12192000" cy="2438400"/>
          </a:xfrm>
          <a:prstGeom prst="rect">
            <a:avLst/>
          </a:prstGeom>
          <a:noFill/>
          <a:ln>
            <a:noFill/>
          </a:ln>
        </p:spPr>
      </p:pic>
      <p:pic>
        <p:nvPicPr>
          <p:cNvPr id="18" name="Google Shape;18;p5"/>
          <p:cNvPicPr preferRelativeResize="0"/>
          <p:nvPr/>
        </p:nvPicPr>
        <p:blipFill rotWithShape="1">
          <a:blip r:embed="rId4">
            <a:alphaModFix/>
          </a:blip>
          <a:srcRect/>
          <a:stretch/>
        </p:blipFill>
        <p:spPr>
          <a:xfrm>
            <a:off x="9830830" y="3686830"/>
            <a:ext cx="1905000" cy="52230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5_Blank">
  <p:cSld name="5_Blank">
    <p:spTree>
      <p:nvGrpSpPr>
        <p:cNvPr id="1" name="Shape 19"/>
        <p:cNvGrpSpPr/>
        <p:nvPr/>
      </p:nvGrpSpPr>
      <p:grpSpPr>
        <a:xfrm>
          <a:off x="0" y="0"/>
          <a:ext cx="0" cy="0"/>
          <a:chOff x="0" y="0"/>
          <a:chExt cx="0" cy="0"/>
        </a:xfrm>
      </p:grpSpPr>
      <p:pic>
        <p:nvPicPr>
          <p:cNvPr id="20" name="Google Shape;20;p6"/>
          <p:cNvPicPr preferRelativeResize="0"/>
          <p:nvPr/>
        </p:nvPicPr>
        <p:blipFill rotWithShape="1">
          <a:blip r:embed="rId2">
            <a:alphaModFix/>
          </a:blip>
          <a:srcRect/>
          <a:stretch/>
        </p:blipFill>
        <p:spPr>
          <a:xfrm>
            <a:off x="10797369" y="6362197"/>
            <a:ext cx="960461" cy="372478"/>
          </a:xfrm>
          <a:prstGeom prst="rect">
            <a:avLst/>
          </a:prstGeom>
          <a:noFill/>
          <a:ln>
            <a:noFill/>
          </a:ln>
        </p:spPr>
      </p:pic>
      <p:pic>
        <p:nvPicPr>
          <p:cNvPr id="21" name="Google Shape;21;p6"/>
          <p:cNvPicPr preferRelativeResize="0"/>
          <p:nvPr/>
        </p:nvPicPr>
        <p:blipFill rotWithShape="1">
          <a:blip r:embed="rId3">
            <a:alphaModFix/>
          </a:blip>
          <a:srcRect/>
          <a:stretch/>
        </p:blipFill>
        <p:spPr>
          <a:xfrm>
            <a:off x="0" y="0"/>
            <a:ext cx="12192000" cy="7143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4156">
          <p15:clr>
            <a:srgbClr val="FBAE40"/>
          </p15:clr>
        </p15:guide>
        <p15:guide id="2" pos="751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7_Blank">
  <p:cSld name="7_Blank">
    <p:spTree>
      <p:nvGrpSpPr>
        <p:cNvPr id="1" name="Shape 22"/>
        <p:cNvGrpSpPr/>
        <p:nvPr/>
      </p:nvGrpSpPr>
      <p:grpSpPr>
        <a:xfrm>
          <a:off x="0" y="0"/>
          <a:ext cx="0" cy="0"/>
          <a:chOff x="0" y="0"/>
          <a:chExt cx="0" cy="0"/>
        </a:xfrm>
      </p:grpSpPr>
      <p:pic>
        <p:nvPicPr>
          <p:cNvPr id="23" name="Google Shape;23;p7"/>
          <p:cNvPicPr preferRelativeResize="0"/>
          <p:nvPr/>
        </p:nvPicPr>
        <p:blipFill rotWithShape="1">
          <a:blip r:embed="rId2">
            <a:alphaModFix amt="5000"/>
          </a:blip>
          <a:srcRect/>
          <a:stretch/>
        </p:blipFill>
        <p:spPr>
          <a:xfrm>
            <a:off x="3976469" y="2607021"/>
            <a:ext cx="4239062" cy="164395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4156">
          <p15:clr>
            <a:srgbClr val="FBAE40"/>
          </p15:clr>
        </p15:guide>
        <p15:guide id="2" pos="751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
        <p:cNvGrpSpPr/>
        <p:nvPr/>
      </p:nvGrpSpPr>
      <p:grpSpPr>
        <a:xfrm>
          <a:off x="0" y="0"/>
          <a:ext cx="0" cy="0"/>
          <a:chOff x="0" y="0"/>
          <a:chExt cx="0" cy="0"/>
        </a:xfrm>
      </p:grpSpPr>
      <p:sp>
        <p:nvSpPr>
          <p:cNvPr id="25" name="Google Shape;25;p8"/>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7" name="Google Shape;2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0"/>
        <p:cNvGrpSpPr/>
        <p:nvPr/>
      </p:nvGrpSpPr>
      <p:grpSpPr>
        <a:xfrm>
          <a:off x="0" y="0"/>
          <a:ext cx="0" cy="0"/>
          <a:chOff x="0" y="0"/>
          <a:chExt cx="0" cy="0"/>
        </a:xfrm>
      </p:grpSpPr>
      <p:sp>
        <p:nvSpPr>
          <p:cNvPr id="31" name="Google Shape;31;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10"/>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9" name="Google Shape;3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1"/>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11"/>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12"/>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12"/>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12"/>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8"/>
        <p:cNvGrpSpPr/>
        <p:nvPr/>
      </p:nvGrpSpPr>
      <p:grpSpPr>
        <a:xfrm>
          <a:off x="0" y="0"/>
          <a:ext cx="0" cy="0"/>
          <a:chOff x="0" y="0"/>
          <a:chExt cx="0" cy="0"/>
        </a:xfrm>
      </p:grpSpPr>
      <p:sp>
        <p:nvSpPr>
          <p:cNvPr id="59" name="Google Shape;59;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3"/>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4"/>
        <p:cNvGrpSpPr/>
        <p:nvPr/>
      </p:nvGrpSpPr>
      <p:grpSpPr>
        <a:xfrm>
          <a:off x="0" y="0"/>
          <a:ext cx="0" cy="0"/>
          <a:chOff x="0" y="0"/>
          <a:chExt cx="0" cy="0"/>
        </a:xfrm>
      </p:grpSpPr>
      <p:sp>
        <p:nvSpPr>
          <p:cNvPr id="65" name="Google Shape;65;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7" name="Google Shape;67;p1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8" name="Google Shape;68;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6"/>
          <p:cNvSpPr>
            <a:spLocks noGrp="1"/>
          </p:cNvSpPr>
          <p:nvPr>
            <p:ph type="pic" idx="2"/>
          </p:nvPr>
        </p:nvSpPr>
        <p:spPr>
          <a:xfrm>
            <a:off x="5183188" y="987425"/>
            <a:ext cx="6172200" cy="4873625"/>
          </a:xfrm>
          <a:prstGeom prst="rect">
            <a:avLst/>
          </a:prstGeom>
          <a:noFill/>
          <a:ln>
            <a:noFill/>
          </a:ln>
        </p:spPr>
      </p:sp>
      <p:sp>
        <p:nvSpPr>
          <p:cNvPr id="74" name="Google Shape;74;p16"/>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5" name="Google Shape;75;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4"/>
        <p:cNvGrpSpPr/>
        <p:nvPr/>
      </p:nvGrpSpPr>
      <p:grpSpPr>
        <a:xfrm>
          <a:off x="0" y="0"/>
          <a:ext cx="0" cy="0"/>
          <a:chOff x="0" y="0"/>
          <a:chExt cx="0" cy="0"/>
        </a:xfrm>
      </p:grpSpPr>
      <p:sp>
        <p:nvSpPr>
          <p:cNvPr id="85" name="Google Shape;85;p18"/>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8"/>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alphaModFix/>
          </a:blip>
          <a:tile tx="0" ty="0" sx="100000" sy="100000" flip="none" algn="tl"/>
        </a:blipFill>
        <a:effectLst/>
      </p:bgPr>
    </p:bg>
    <p:spTree>
      <p:nvGrpSpPr>
        <p:cNvPr id="1" name="Shape 93"/>
        <p:cNvGrpSpPr/>
        <p:nvPr/>
      </p:nvGrpSpPr>
      <p:grpSpPr>
        <a:xfrm>
          <a:off x="0" y="0"/>
          <a:ext cx="0" cy="0"/>
          <a:chOff x="0" y="0"/>
          <a:chExt cx="0" cy="0"/>
        </a:xfrm>
      </p:grpSpPr>
      <p:sp>
        <p:nvSpPr>
          <p:cNvPr id="94" name="Google Shape;94;p1"/>
          <p:cNvSpPr txBox="1"/>
          <p:nvPr/>
        </p:nvSpPr>
        <p:spPr>
          <a:xfrm>
            <a:off x="261257" y="5321712"/>
            <a:ext cx="10896599" cy="523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800"/>
              <a:buFont typeface="Arial"/>
              <a:buNone/>
            </a:pPr>
            <a:r>
              <a:rPr lang="en-IN" sz="2800" b="1" i="0" u="none" strike="noStrike" cap="none" dirty="0">
                <a:solidFill>
                  <a:schemeClr val="bg1"/>
                </a:solidFill>
                <a:latin typeface="Calibri"/>
                <a:ea typeface="Calibri"/>
                <a:cs typeface="Calibri"/>
                <a:sym typeface="Calibri"/>
              </a:rPr>
              <a:t>Capstone</a:t>
            </a:r>
            <a:r>
              <a:rPr lang="en-IN" sz="2800" b="1" i="0" u="none" strike="noStrike" cap="none" dirty="0">
                <a:solidFill>
                  <a:schemeClr val="lt1"/>
                </a:solidFill>
                <a:latin typeface="Calibri"/>
                <a:ea typeface="Calibri"/>
                <a:cs typeface="Calibri"/>
                <a:sym typeface="Calibri"/>
              </a:rPr>
              <a:t> Design Review Presentation</a:t>
            </a:r>
            <a:endParaRPr sz="1400" b="0" i="0" u="none" strike="noStrike" cap="none" dirty="0">
              <a:solidFill>
                <a:srgbClr val="000000"/>
              </a:solidFill>
              <a:latin typeface="Arial"/>
              <a:ea typeface="Arial"/>
              <a:cs typeface="Arial"/>
              <a:sym typeface="Arial"/>
            </a:endParaRPr>
          </a:p>
        </p:txBody>
      </p:sp>
      <p:sp>
        <p:nvSpPr>
          <p:cNvPr id="95" name="TextBox 94"/>
          <p:cNvSpPr txBox="1"/>
          <p:nvPr/>
        </p:nvSpPr>
        <p:spPr>
          <a:xfrm>
            <a:off x="265176" y="5870448"/>
            <a:ext cx="10899648" cy="411480"/>
          </a:xfrm>
          <a:prstGeom prst="rect">
            <a:avLst/>
          </a:prstGeom>
          <a:noFill/>
        </p:spPr>
        <p:txBody>
          <a:bodyPr wrap="square">
            <a:spAutoFit/>
          </a:bodyPr>
          <a:lstStyle/>
          <a:p>
            <a:pPr algn="l"/>
            <a:r>
              <a:rPr sz="1600" b="0">
                <a:solidFill>
                  <a:srgbClr val="FFFFFF"/>
                </a:solidFill>
                <a:latin typeface="Calibri"/>
              </a:rPr>
              <a:t>Sumeet Lakhwani  ·  Research Paper Navigator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3" name="TextBox 2">
            <a:extLst>
              <a:ext uri="{FF2B5EF4-FFF2-40B4-BE49-F238E27FC236}">
                <a16:creationId xmlns:a16="http://schemas.microsoft.com/office/drawing/2014/main" id="{6E5FE501-52FC-9663-175F-EE814939F785}"/>
              </a:ext>
            </a:extLst>
          </p:cNvPr>
          <p:cNvSpPr txBox="1"/>
          <p:nvPr/>
        </p:nvSpPr>
        <p:spPr>
          <a:xfrm>
            <a:off x="859972" y="2488225"/>
            <a:ext cx="10472057" cy="1369606"/>
          </a:xfrm>
          <a:prstGeom prst="rect">
            <a:avLst/>
          </a:prstGeom>
          <a:noFill/>
        </p:spPr>
        <p:txBody>
          <a:bodyPr wrap="square">
            <a:spAutoFit/>
          </a:bodyPr>
          <a:lstStyle>
            <a:defPPr marR="0" lvl="0" algn="l" rtl="0">
              <a:lnSpc>
                <a:spcPct val="100000"/>
              </a:lnSpc>
              <a:spcBef>
                <a:spcPts val="0"/>
              </a:spcBef>
              <a:spcAft>
                <a:spcPts val="0"/>
              </a:spcAft>
            </a:defPPr>
            <a:lvl1pPr>
              <a:defRPr sz="2800" b="1">
                <a:solidFill>
                  <a:srgbClr val="A31F34"/>
                </a:solidFill>
                <a:latin typeface="Calibri"/>
                <a:ea typeface="Calibri"/>
                <a:cs typeface="Calibri"/>
              </a:defRPr>
            </a:lvl1pPr>
          </a:lstStyle>
          <a:p>
            <a:pPr algn="ctr"/>
            <a:r>
              <a:rPr lang="en-IN" dirty="0"/>
              <a:t>Designing and Evaluating a Retrieval-Augmented LLM System</a:t>
            </a:r>
          </a:p>
          <a:p>
            <a:pPr algn="ctr"/>
            <a:r>
              <a:rPr lang="en-IN" dirty="0"/>
              <a:t>Sumeet Lakhwani  |  Research Paper Navigator</a:t>
            </a:r>
          </a:p>
          <a:p>
            <a:endParaRPr lang="en-IN" dirty="0"/>
          </a:p>
        </p:txBody>
      </p:sp>
      <p:sp>
        <p:nvSpPr>
          <p:cNvPr id="5" name="TextBox 4">
            <a:extLst>
              <a:ext uri="{FF2B5EF4-FFF2-40B4-BE49-F238E27FC236}">
                <a16:creationId xmlns:a16="http://schemas.microsoft.com/office/drawing/2014/main" id="{F18859DA-4EBF-86FB-39DA-CC40AEFAA531}"/>
              </a:ext>
            </a:extLst>
          </p:cNvPr>
          <p:cNvSpPr txBox="1"/>
          <p:nvPr/>
        </p:nvSpPr>
        <p:spPr>
          <a:xfrm>
            <a:off x="1698574" y="3857831"/>
            <a:ext cx="9305938" cy="1015663"/>
          </a:xfrm>
          <a:prstGeom prst="rect">
            <a:avLst/>
          </a:prstGeom>
          <a:noFill/>
        </p:spPr>
        <p:txBody>
          <a:bodyPr wrap="square">
            <a:spAutoFit/>
          </a:bodyPr>
          <a:lstStyle/>
          <a:p>
            <a:pPr rtl="0">
              <a:buNone/>
            </a:pPr>
            <a:r>
              <a:rPr lang="en-IN" sz="1800" b="0" i="0" u="none" strike="noStrike" dirty="0">
                <a:solidFill>
                  <a:srgbClr val="5F6368"/>
                </a:solidFill>
                <a:effectLst/>
                <a:latin typeface="Calibri" panose="020F0502020204030204" pitchFamily="34" charset="0"/>
                <a:ea typeface="Calibri" panose="020F0502020204030204" pitchFamily="34" charset="0"/>
                <a:cs typeface="Calibri" panose="020F0502020204030204" pitchFamily="34" charset="0"/>
              </a:rPr>
              <a:t>An agent-based, security- and cost-hardened retrieval-augmented system over 153 real computer-science research papers — built incrementally across Capstone Checkpoints 1.1 through 7.1.</a:t>
            </a:r>
            <a:endParaRPr lang="en-IN" sz="2000" b="0" dirty="0">
              <a:effectLst/>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3" name="TextBox 2">
            <a:extLst>
              <a:ext uri="{FF2B5EF4-FFF2-40B4-BE49-F238E27FC236}">
                <a16:creationId xmlns:a16="http://schemas.microsoft.com/office/drawing/2014/main" id="{9809ED82-7865-1E75-8005-E3EE187972A9}"/>
              </a:ext>
            </a:extLst>
          </p:cNvPr>
          <p:cNvSpPr txBox="1"/>
          <p:nvPr/>
        </p:nvSpPr>
        <p:spPr>
          <a:xfrm>
            <a:off x="707571" y="1487847"/>
            <a:ext cx="9143999" cy="2800767"/>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pPr algn="l"/>
            <a:endParaRPr lang="en-IN" dirty="0"/>
          </a:p>
          <a:p>
            <a:pPr marL="285750" indent="-285750" algn="l">
              <a:buFont typeface="Arial" panose="020B0604020202020204" pitchFamily="34" charset="0"/>
              <a:buChar char="•"/>
            </a:pPr>
            <a:r>
              <a:rPr lang="en-IN" sz="2000" b="0" dirty="0">
                <a:solidFill>
                  <a:schemeClr val="tx1"/>
                </a:solidFill>
              </a:rPr>
              <a:t>LLMs answer with </a:t>
            </a:r>
            <a:r>
              <a:rPr b="1" sz="2000"/>
              <a:t>total confidence</a:t>
            </a:r>
            <a:r>
              <a:rPr b="0" sz="2000"/>
              <a:t> — even when they're completely wrong</a:t>
            </a:r>
          </a:p>
          <a:p>
            <a:pPr marL="285750" indent="-285750" algn="l">
              <a:buFont typeface="Arial" panose="020B0604020202020204" pitchFamily="34" charset="0"/>
              <a:buChar char="•"/>
            </a:pPr>
            <a:r>
              <a:rPr lang="en-IN" sz="2000" b="0" dirty="0">
                <a:solidFill>
                  <a:schemeClr val="tx1"/>
                </a:solidFill>
              </a:rPr>
              <a:t>Checkpoint 1.1 proved it on this exact </a:t>
            </a:r>
            <a:r>
              <a:rPr b="1" sz="2000"/>
              <a:t>153-paper corpus</a:t>
            </a:r>
            <a:r>
              <a:rPr b="0" sz="2000"/>
              <a:t>: an invented title, a fabricated quote, a made-up statistic</a:t>
            </a:r>
          </a:p>
          <a:p>
            <a:pPr marL="285750" indent="-285750" algn="l">
              <a:buFont typeface="Arial" panose="020B0604020202020204" pitchFamily="34" charset="0"/>
              <a:buChar char="•"/>
            </a:pPr>
            <a:r>
              <a:rPr lang="en-IN" sz="2000" b="0" dirty="0">
                <a:solidFill>
                  <a:schemeClr val="tx1"/>
                </a:solidFill>
              </a:rPr>
              <a:t>A confidently wrong answer is </a:t>
            </a:r>
            <a:r>
              <a:rPr b="1" sz="2000"/>
              <a:t>more dangerous than no answer at all</a:t>
            </a:r>
            <a:r>
              <a:rPr b="0" sz="2000"/>
              <a:t> — that's the risk this system removes</a:t>
            </a:r>
          </a:p>
        </p:txBody>
      </p:sp>
      <p:sp>
        <p:nvSpPr>
          <p:cNvPr id="9" name="TextBox 8">
            <a:extLst>
              <a:ext uri="{FF2B5EF4-FFF2-40B4-BE49-F238E27FC236}">
                <a16:creationId xmlns:a16="http://schemas.microsoft.com/office/drawing/2014/main" id="{73F3F64E-BE4D-D3DF-57D5-BF67AE1E9EDD}"/>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The Problem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1AE4673-2310-7768-CAFE-C71E228846A7}"/>
              </a:ext>
            </a:extLst>
          </p:cNvPr>
          <p:cNvSpPr txBox="1"/>
          <p:nvPr/>
        </p:nvSpPr>
        <p:spPr>
          <a:xfrm>
            <a:off x="570586" y="696992"/>
            <a:ext cx="11069725" cy="2369880"/>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endParaRPr lang="en-IN" dirty="0"/>
          </a:p>
          <a:p>
            <a:pPr marL="285750" indent="-285750" algn="l">
              <a:buFont typeface="Arial" panose="020B0604020202020204" pitchFamily="34" charset="0"/>
              <a:buChar char="•"/>
            </a:pPr>
            <a:r>
              <a:rPr lang="en-US" sz="2000" b="0" dirty="0">
                <a:solidFill>
                  <a:schemeClr val="tx1"/>
                </a:solidFill>
              </a:rPr>
              <a:t>Five-stage pipeline (Checkpoints 2.1–7.1): retrieval, evaluation, agentic reasoning, security/cost hardening</a:t>
            </a:r>
          </a:p>
          <a:p>
            <a:pPr marL="285750" indent="-285750" algn="l">
              <a:buFont typeface="Arial" panose="020B0604020202020204" pitchFamily="34" charset="0"/>
              <a:buChar char="•"/>
            </a:pPr>
            <a:r>
              <a:rPr lang="en-US" sz="2000" b="0" dirty="0">
                <a:solidFill>
                  <a:schemeClr val="tx1"/>
                </a:solidFill>
              </a:rPr>
              <a:t>A router sends simple questions to a single call; complex ones enter an agent loop</a:t>
            </a:r>
          </a:p>
          <a:p>
            <a:pPr marL="285750" indent="-285750" algn="l">
              <a:buFont typeface="Arial" panose="020B0604020202020204" pitchFamily="34" charset="0"/>
              <a:buChar char="•"/>
            </a:pPr>
            <a:r>
              <a:rPr lang="en-US" sz="2000" b="0" dirty="0">
                <a:solidFill>
                  <a:schemeClr val="tx1"/>
                </a:solidFill>
              </a:rPr>
              <a:t>Answers are grounded strictly in retrieved documents — user input is treated as data, never instructions</a:t>
            </a:r>
          </a:p>
        </p:txBody>
      </p:sp>
      <p:sp>
        <p:nvSpPr>
          <p:cNvPr id="5" name="TextBox 4">
            <a:extLst>
              <a:ext uri="{FF2B5EF4-FFF2-40B4-BE49-F238E27FC236}">
                <a16:creationId xmlns:a16="http://schemas.microsoft.com/office/drawing/2014/main" id="{98CF4003-6B2E-87CF-2817-76889C6135B4}"/>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The Solution</a:t>
            </a:r>
          </a:p>
        </p:txBody>
      </p:sp>
      <p:sp>
        <p:nvSpPr>
          <p:cNvPr id="6" name="Oval 5"/>
          <p:cNvSpPr/>
          <p:nvPr/>
        </p:nvSpPr>
        <p:spPr>
          <a:xfrm>
            <a:off x="1328623" y="306324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rPr>
              <a:t>1</a:t>
            </a:r>
          </a:p>
        </p:txBody>
      </p:sp>
      <p:sp>
        <p:nvSpPr>
          <p:cNvPr id="7" name="Rounded Rectangle 6"/>
          <p:cNvSpPr/>
          <p:nvPr/>
        </p:nvSpPr>
        <p:spPr>
          <a:xfrm>
            <a:off x="548640" y="3520440"/>
            <a:ext cx="1925726" cy="82296"/>
          </a:xfrm>
          <a:prstGeom prst="roundRect">
            <a:avLst>
              <a:gd name="adj" fmla="val 5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48640" y="3520440"/>
            <a:ext cx="1925726" cy="1005840"/>
          </a:xfrm>
          <a:prstGeom prst="roundRect">
            <a:avLst>
              <a:gd name="adj" fmla="val 6000"/>
            </a:avLst>
          </a:prstGeom>
          <a:solidFill>
            <a:srgbClr val="FFFFFF"/>
          </a:solid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76200" tIns="127000" rIns="76200" bIns="50800" rtlCol="0" anchor="ctr"/>
          <a:lstStyle/>
          <a:p>
            <a:pPr algn="ctr"/>
            <a:r>
              <a:rPr sz="1300" b="1">
                <a:solidFill>
                  <a:srgbClr val="202124"/>
                </a:solidFill>
              </a:rPr>
              <a:t>User Question</a:t>
            </a:r>
          </a:p>
          <a:p>
            <a:pPr algn="ctr">
              <a:spcBef>
                <a:spcPts val="300"/>
              </a:spcBef>
            </a:pPr>
            <a:r>
              <a:rPr sz="950" b="0">
                <a:solidFill>
                  <a:srgbClr val="5F6368"/>
                </a:solidFill>
              </a:rPr>
              <a:t>Natural-language research question</a:t>
            </a:r>
          </a:p>
        </p:txBody>
      </p:sp>
      <p:sp>
        <p:nvSpPr>
          <p:cNvPr id="9" name="Oval 8"/>
          <p:cNvSpPr/>
          <p:nvPr/>
        </p:nvSpPr>
        <p:spPr>
          <a:xfrm>
            <a:off x="3620109" y="306324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rPr>
              <a:t>2</a:t>
            </a:r>
          </a:p>
        </p:txBody>
      </p:sp>
      <p:sp>
        <p:nvSpPr>
          <p:cNvPr id="10" name="Rounded Rectangle 9"/>
          <p:cNvSpPr/>
          <p:nvPr/>
        </p:nvSpPr>
        <p:spPr>
          <a:xfrm>
            <a:off x="2840126" y="3520440"/>
            <a:ext cx="1925726" cy="82296"/>
          </a:xfrm>
          <a:prstGeom prst="roundRect">
            <a:avLst>
              <a:gd name="adj" fmla="val 5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2840126" y="3520440"/>
            <a:ext cx="1925726" cy="1005840"/>
          </a:xfrm>
          <a:prstGeom prst="roundRect">
            <a:avLst>
              <a:gd name="adj" fmla="val 6000"/>
            </a:avLst>
          </a:prstGeom>
          <a:solidFill>
            <a:srgbClr val="FFFFFF"/>
          </a:solid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76200" tIns="127000" rIns="76200" bIns="50800" rtlCol="0" anchor="ctr"/>
          <a:lstStyle/>
          <a:p>
            <a:pPr algn="ctr"/>
            <a:r>
              <a:rPr sz="1300" b="1">
                <a:solidFill>
                  <a:srgbClr val="202124"/>
                </a:solidFill>
              </a:rPr>
              <a:t>Sanitize</a:t>
            </a:r>
          </a:p>
          <a:p>
            <a:pPr algn="ctr">
              <a:spcBef>
                <a:spcPts val="300"/>
              </a:spcBef>
            </a:pPr>
            <a:r>
              <a:rPr sz="950" b="0">
                <a:solidFill>
                  <a:srgbClr val="5F6368"/>
                </a:solidFill>
              </a:rPr>
              <a:t>Strip injected instructions; escape untrusted text</a:t>
            </a:r>
          </a:p>
        </p:txBody>
      </p:sp>
      <p:sp>
        <p:nvSpPr>
          <p:cNvPr id="12" name="Oval 11"/>
          <p:cNvSpPr/>
          <p:nvPr/>
        </p:nvSpPr>
        <p:spPr>
          <a:xfrm>
            <a:off x="5911596" y="306324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rPr>
              <a:t>3</a:t>
            </a:r>
          </a:p>
        </p:txBody>
      </p:sp>
      <p:sp>
        <p:nvSpPr>
          <p:cNvPr id="13" name="Rounded Rectangle 12"/>
          <p:cNvSpPr/>
          <p:nvPr/>
        </p:nvSpPr>
        <p:spPr>
          <a:xfrm>
            <a:off x="5131612" y="3520440"/>
            <a:ext cx="1925726" cy="82296"/>
          </a:xfrm>
          <a:prstGeom prst="roundRect">
            <a:avLst>
              <a:gd name="adj" fmla="val 5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131612" y="3520440"/>
            <a:ext cx="1925726" cy="1005840"/>
          </a:xfrm>
          <a:prstGeom prst="roundRect">
            <a:avLst>
              <a:gd name="adj" fmla="val 6000"/>
            </a:avLst>
          </a:prstGeom>
          <a:solidFill>
            <a:srgbClr val="FFFFFF"/>
          </a:solid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76200" tIns="127000" rIns="76200" bIns="50800" rtlCol="0" anchor="ctr"/>
          <a:lstStyle/>
          <a:p>
            <a:pPr algn="ctr"/>
            <a:r>
              <a:rPr sz="1300" b="1">
                <a:solidFill>
                  <a:srgbClr val="202124"/>
                </a:solidFill>
              </a:rPr>
              <a:t>Route</a:t>
            </a:r>
          </a:p>
          <a:p>
            <a:pPr algn="ctr">
              <a:spcBef>
                <a:spcPts val="300"/>
              </a:spcBef>
            </a:pPr>
            <a:r>
              <a:rPr sz="950" b="0">
                <a:solidFill>
                  <a:srgbClr val="5F6368"/>
                </a:solidFill>
              </a:rPr>
              <a:t>Simple one-hop vs. multistep question</a:t>
            </a:r>
          </a:p>
        </p:txBody>
      </p:sp>
      <p:sp>
        <p:nvSpPr>
          <p:cNvPr id="15" name="Oval 14"/>
          <p:cNvSpPr/>
          <p:nvPr/>
        </p:nvSpPr>
        <p:spPr>
          <a:xfrm>
            <a:off x="8203082" y="306324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rPr>
              <a:t>4</a:t>
            </a:r>
          </a:p>
        </p:txBody>
      </p:sp>
      <p:sp>
        <p:nvSpPr>
          <p:cNvPr id="16" name="Rounded Rectangle 15"/>
          <p:cNvSpPr/>
          <p:nvPr/>
        </p:nvSpPr>
        <p:spPr>
          <a:xfrm>
            <a:off x="7423099" y="3520440"/>
            <a:ext cx="1925726" cy="82296"/>
          </a:xfrm>
          <a:prstGeom prst="roundRect">
            <a:avLst>
              <a:gd name="adj" fmla="val 5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423099" y="3520440"/>
            <a:ext cx="1925726" cy="1005840"/>
          </a:xfrm>
          <a:prstGeom prst="roundRect">
            <a:avLst>
              <a:gd name="adj" fmla="val 6000"/>
            </a:avLst>
          </a:prstGeom>
          <a:solidFill>
            <a:srgbClr val="FFFFFF"/>
          </a:solid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76200" tIns="127000" rIns="76200" bIns="50800" rtlCol="0" anchor="ctr"/>
          <a:lstStyle/>
          <a:p>
            <a:pPr algn="ctr"/>
            <a:r>
              <a:rPr sz="1300" b="1">
                <a:solidFill>
                  <a:srgbClr val="202124"/>
                </a:solidFill>
              </a:rPr>
              <a:t>Retrieve + Decide</a:t>
            </a:r>
          </a:p>
          <a:p>
            <a:pPr algn="ctr">
              <a:spcBef>
                <a:spcPts val="300"/>
              </a:spcBef>
            </a:pPr>
            <a:r>
              <a:rPr sz="950" b="0">
                <a:solidFill>
                  <a:srgbClr val="5F6368"/>
                </a:solidFill>
              </a:rPr>
              <a:t>BM25 + citation graph; agent loop, ≤ 3 rounds</a:t>
            </a:r>
          </a:p>
        </p:txBody>
      </p:sp>
      <p:sp>
        <p:nvSpPr>
          <p:cNvPr id="18" name="Oval 17"/>
          <p:cNvSpPr/>
          <p:nvPr/>
        </p:nvSpPr>
        <p:spPr>
          <a:xfrm>
            <a:off x="10494568" y="306324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rPr>
              <a:t>5</a:t>
            </a:r>
          </a:p>
        </p:txBody>
      </p:sp>
      <p:sp>
        <p:nvSpPr>
          <p:cNvPr id="19" name="Rounded Rectangle 18"/>
          <p:cNvSpPr/>
          <p:nvPr/>
        </p:nvSpPr>
        <p:spPr>
          <a:xfrm>
            <a:off x="9714585" y="3520440"/>
            <a:ext cx="1925726" cy="82296"/>
          </a:xfrm>
          <a:prstGeom prst="roundRect">
            <a:avLst>
              <a:gd name="adj" fmla="val 50000"/>
            </a:avLst>
          </a:prstGeom>
          <a:solidFill>
            <a:srgbClr val="0B47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9714585" y="3520440"/>
            <a:ext cx="1925726" cy="1005840"/>
          </a:xfrm>
          <a:prstGeom prst="roundRect">
            <a:avLst>
              <a:gd name="adj" fmla="val 6000"/>
            </a:avLst>
          </a:prstGeom>
          <a:solidFill>
            <a:srgbClr val="E8F0FE"/>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wrap="square" lIns="76200" tIns="127000" rIns="76200" bIns="50800" rtlCol="0" anchor="ctr"/>
          <a:lstStyle/>
          <a:p>
            <a:pPr algn="ctr"/>
            <a:r>
              <a:rPr sz="1300" b="1">
                <a:solidFill>
                  <a:srgbClr val="0B479C"/>
                </a:solidFill>
              </a:rPr>
              <a:t>Answer</a:t>
            </a:r>
          </a:p>
          <a:p>
            <a:pPr algn="ctr">
              <a:spcBef>
                <a:spcPts val="300"/>
              </a:spcBef>
            </a:pPr>
            <a:r>
              <a:rPr sz="950" b="0">
                <a:solidFill>
                  <a:srgbClr val="5F6368"/>
                </a:solidFill>
              </a:rPr>
              <a:t>Grounded only in retrieved documents (XML-hardened)</a:t>
            </a:r>
          </a:p>
        </p:txBody>
      </p:sp>
      <p:cxnSp>
        <p:nvCxnSpPr>
          <p:cNvPr id="21" name="Connector 20"/>
          <p:cNvCxnSpPr/>
          <p:nvPr/>
        </p:nvCxnSpPr>
        <p:spPr>
          <a:xfrm>
            <a:off x="2474366" y="4023360"/>
            <a:ext cx="365760" cy="0"/>
          </a:xfrm>
          <a:prstGeom prst="line">
            <a:avLst/>
          </a:prstGeom>
          <a:ln w="2222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765852" y="4023360"/>
            <a:ext cx="365760" cy="0"/>
          </a:xfrm>
          <a:prstGeom prst="line">
            <a:avLst/>
          </a:prstGeom>
          <a:ln w="2222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057339" y="4023360"/>
            <a:ext cx="365760" cy="0"/>
          </a:xfrm>
          <a:prstGeom prst="line">
            <a:avLst/>
          </a:prstGeom>
          <a:ln w="2222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348825" y="4023360"/>
            <a:ext cx="365760" cy="0"/>
          </a:xfrm>
          <a:prstGeom prst="line">
            <a:avLst/>
          </a:prstGeom>
          <a:ln w="2222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48640" y="4800600"/>
            <a:ext cx="11091672" cy="868680"/>
          </a:xfrm>
          <a:prstGeom prst="roundRect">
            <a:avLst>
              <a:gd name="adj" fmla="val 12000"/>
            </a:avLst>
          </a:prstGeom>
          <a:solidFill>
            <a:srgbClr val="F8F9FA"/>
          </a:solid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177800" tIns="76200" rIns="177800" bIns="76200" rtlCol="0" anchor="ctr"/>
          <a:lstStyle/>
          <a:p>
            <a:pPr algn="ctr"/>
            <a:r>
              <a:rPr sz="1100" b="0">
                <a:solidFill>
                  <a:srgbClr val="202124"/>
                </a:solidFill>
              </a:rPr>
              <a:t>Router sends simple, one-hop questions straight to Answer in a single LLM call.</a:t>
            </a:r>
          </a:p>
          <a:p>
            <a:pPr algn="ctr">
              <a:spcBef>
                <a:spcPts val="200"/>
              </a:spcBef>
            </a:pPr>
            <a:r>
              <a:rPr sz="1100" b="0">
                <a:solidFill>
                  <a:srgbClr val="5F6368"/>
                </a:solidFill>
              </a:rPr>
              <a:t>Multistep questions iterate through Retrieve ⇄ Decide (agent loop, capped at 3 rounds) before answering.</a:t>
            </a:r>
          </a:p>
        </p:txBody>
      </p:sp>
    </p:spTree>
    <p:extLst>
      <p:ext uri="{BB962C8B-B14F-4D97-AF65-F5344CB8AC3E}">
        <p14:creationId xmlns:p14="http://schemas.microsoft.com/office/powerpoint/2010/main" val="328922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BE09B85-CBAA-6E41-F9C1-5D0C62D32631}"/>
              </a:ext>
            </a:extLst>
          </p:cNvPr>
          <p:cNvSpPr txBox="1"/>
          <p:nvPr/>
        </p:nvSpPr>
        <p:spPr>
          <a:xfrm>
            <a:off x="707571" y="1497600"/>
            <a:ext cx="9143999" cy="2677656"/>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r>
              <a:rPr lang="en-IN" dirty="0"/>
              <a:t/>
            </a:r>
          </a:p>
          <a:p>
            <a:pPr marL="285750" indent="-285750" algn="l">
              <a:buFont typeface="Arial" panose="020B0604020202020204" pitchFamily="34" charset="0"/>
              <a:buChar char="•"/>
            </a:pPr>
            <a:r>
              <a:rPr lang="en-US" sz="2000" b="0" dirty="0">
                <a:solidFill>
                  <a:schemeClr val="tx1"/>
                </a:solidFill>
              </a:rPr>
              <a:t>BM25 keyword baseline (2.1), extended with a citation + same-author graph (4.1) to reach papers keyword search alone can't surface</a:t>
            </a:r>
          </a:p>
          <a:p>
            <a:pPr marL="285750" indent="-285750" algn="l">
              <a:buFont typeface="Arial" panose="020B0604020202020204" pitchFamily="34" charset="0"/>
              <a:buChar char="•"/>
            </a:pPr>
            <a:r>
              <a:rPr lang="en-US" sz="2000" b="0" dirty="0">
                <a:solidFill>
                  <a:schemeClr val="tx1"/>
                </a:solidFill>
              </a:rPr>
              <a:t>LLM-judge evaluation: pass/fail on written grading notes, </a:t>
            </a:r>
            <a:r>
              <a:rPr b="1" sz="2000"/>
              <a:t>5 fixed questions</a:t>
            </a:r>
            <a:r>
              <a:rPr b="0" sz="2000"/>
              <a:t>, unchanged across every checkpoint</a:t>
            </a:r>
          </a:p>
          <a:p>
            <a:pPr marL="285750" indent="-285750" algn="l">
              <a:buFont typeface="Arial" panose="020B0604020202020204" pitchFamily="34" charset="0"/>
              <a:buChar char="•"/>
            </a:pPr>
            <a:r>
              <a:rPr lang="en-US" sz="2000" b="0" dirty="0">
                <a:solidFill>
                  <a:schemeClr val="tx1"/>
                </a:solidFill>
              </a:rPr>
              <a:t>Graph retrieval fixed one failure (unreachable at rank ~122) but regressed another — net pass rate unchanged: </a:t>
            </a:r>
            <a:r>
              <a:rPr b="1" sz="2000"/>
              <a:t>4/5</a:t>
            </a:r>
            <a:r>
              <a:rPr b="0" sz="2000"/>
              <a:t> before and after</a:t>
            </a:r>
          </a:p>
          <a:p>
            <a:pPr marL="285750" indent="-285750" algn="l">
              <a:buFont typeface="Arial" panose="020B0604020202020204" pitchFamily="34" charset="0"/>
              <a:buChar char="•"/>
            </a:pPr>
            <a:r>
              <a:rPr lang="en-US" sz="2000" b="0" dirty="0">
                <a:solidFill>
                  <a:schemeClr val="tx1"/>
                </a:solidFill>
              </a:rPr>
              <a:t>Measured fixes for hallucination, injection, and cost — but a citation-year bug persists, unresolved, across </a:t>
            </a:r>
            <a:r>
              <a:rPr b="1" sz="2000"/>
              <a:t>5 checkpoints</a:t>
            </a:r>
          </a:p>
        </p:txBody>
      </p:sp>
      <p:sp>
        <p:nvSpPr>
          <p:cNvPr id="5" name="TextBox 4">
            <a:extLst>
              <a:ext uri="{FF2B5EF4-FFF2-40B4-BE49-F238E27FC236}">
                <a16:creationId xmlns:a16="http://schemas.microsoft.com/office/drawing/2014/main" id="{E2D08B99-26E8-96E3-B453-DEED97ED3C1F}"/>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Retrieval and Evaluation</a:t>
            </a:r>
          </a:p>
        </p:txBody>
      </p:sp>
    </p:spTree>
    <p:extLst>
      <p:ext uri="{BB962C8B-B14F-4D97-AF65-F5344CB8AC3E}">
        <p14:creationId xmlns:p14="http://schemas.microsoft.com/office/powerpoint/2010/main" val="39871534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6631922-EDA2-CA93-9A0A-C814D5C410DE}"/>
              </a:ext>
            </a:extLst>
          </p:cNvPr>
          <p:cNvSpPr txBox="1"/>
          <p:nvPr/>
        </p:nvSpPr>
        <p:spPr>
          <a:xfrm>
            <a:off x="707571" y="1497600"/>
            <a:ext cx="9143999" cy="2677656"/>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endParaRPr lang="en-IN" dirty="0"/>
          </a:p>
          <a:p>
            <a:pPr marL="285750" indent="-285750" algn="l">
              <a:buFont typeface="Arial" panose="020B0604020202020204" pitchFamily="34" charset="0"/>
              <a:buChar char="•"/>
            </a:pPr>
            <a:r>
              <a:rPr lang="en-US" sz="2000" b="0" dirty="0">
                <a:solidFill>
                  <a:schemeClr val="tx1"/>
                </a:solidFill>
              </a:rPr>
              <a:t>Chose BM25 over embeddings — free, deterministic, strong on this corpus's precise vocabulary; semantic retrieval deferred, not hidden</a:t>
            </a:r>
          </a:p>
          <a:p>
            <a:pPr marL="285750" indent="-285750" algn="l">
              <a:buFont typeface="Arial" panose="020B0604020202020204" pitchFamily="34" charset="0"/>
              <a:buChar char="•"/>
            </a:pPr>
            <a:r>
              <a:rPr lang="en-US" sz="2000" b="0" dirty="0">
                <a:solidFill>
                  <a:schemeClr val="tx1"/>
                </a:solidFill>
              </a:rPr>
              <a:t>Citation graph built from filename + text conventions, not a new ML model — cheap and hand-verifiable</a:t>
            </a:r>
          </a:p>
          <a:p>
            <a:pPr marL="285750" indent="-285750" algn="l">
              <a:buFont typeface="Arial" panose="020B0604020202020204" pitchFamily="34" charset="0"/>
              <a:buChar char="•"/>
            </a:pPr>
            <a:r>
              <a:rPr lang="en-US" sz="2000" b="0" dirty="0">
                <a:solidFill>
                  <a:schemeClr val="tx1"/>
                </a:solidFill>
              </a:rPr>
              <a:t>Every technique kept the baseline's exact document budget — what honestly exposed the </a:t>
            </a:r>
            <a:r>
              <a:rPr b="1" sz="2000"/>
              <a:t>Checkpoint 4.1 trade-off</a:t>
            </a:r>
          </a:p>
          <a:p>
            <a:pPr marL="285750" indent="-285750" algn="l">
              <a:buFont typeface="Arial" panose="020B0604020202020204" pitchFamily="34" charset="0"/>
              <a:buChar char="•"/>
            </a:pPr>
            <a:r>
              <a:rPr lang="en-US" sz="2000" b="0" dirty="0">
                <a:solidFill>
                  <a:schemeClr val="tx1"/>
                </a:solidFill>
              </a:rPr>
              <a:t>By 7.1: no single safeguard is enough — chose layered, partial defenses over one “complete” fix</a:t>
            </a:r>
          </a:p>
        </p:txBody>
      </p:sp>
      <p:sp>
        <p:nvSpPr>
          <p:cNvPr id="5" name="TextBox 4">
            <a:extLst>
              <a:ext uri="{FF2B5EF4-FFF2-40B4-BE49-F238E27FC236}">
                <a16:creationId xmlns:a16="http://schemas.microsoft.com/office/drawing/2014/main" id="{BC92D5CD-CEED-CAF9-8E1C-650675A313C3}"/>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Engineering Decisions</a:t>
            </a:r>
          </a:p>
        </p:txBody>
      </p:sp>
    </p:spTree>
    <p:extLst>
      <p:ext uri="{BB962C8B-B14F-4D97-AF65-F5344CB8AC3E}">
        <p14:creationId xmlns:p14="http://schemas.microsoft.com/office/powerpoint/2010/main" val="6849074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8013A2-70CA-8E35-F3F3-F40CD428166B}"/>
              </a:ext>
            </a:extLst>
          </p:cNvPr>
          <p:cNvSpPr txBox="1"/>
          <p:nvPr/>
        </p:nvSpPr>
        <p:spPr>
          <a:xfrm>
            <a:off x="707571" y="1497600"/>
            <a:ext cx="9143999" cy="3231654"/>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endParaRPr lang="en-IN" dirty="0"/>
          </a:p>
          <a:p>
            <a:pPr marL="285750" indent="-285750" algn="l">
              <a:buFont typeface="Arial" panose="020B0604020202020204" pitchFamily="34" charset="0"/>
              <a:buChar char="•"/>
            </a:pPr>
            <a:r>
              <a:rPr lang="en-US" sz="2000" b="0" dirty="0">
                <a:solidFill>
                  <a:schemeClr val="tx1"/>
                </a:solidFill>
              </a:rPr>
              <a:t>Citation-year misattribution (unresolved, </a:t>
            </a:r>
            <a:r>
              <a:rPr b="1" sz="2000"/>
              <a:t>5+ checkpoints</a:t>
            </a:r>
            <a:r>
              <a:rPr b="0" sz="2000"/>
              <a:t>) and BM25 ranking the same need </a:t>
            </a:r>
            <a:r>
              <a:rPr b="1" sz="2000"/>
              <a:t>8th to 28th</a:t>
            </a:r>
            <a:r>
              <a:rPr b="0" sz="2000"/>
              <a:t> purely by phrasing</a:t>
            </a:r>
          </a:p>
          <a:p>
            <a:pPr marL="285750" indent="-285750" algn="l">
              <a:buFont typeface="Arial" panose="020B0604020202020204" pitchFamily="34" charset="0"/>
              <a:buChar char="•"/>
            </a:pPr>
            <a:r>
              <a:rPr lang="en-US" sz="2000" b="0" dirty="0">
                <a:solidFill>
                  <a:schemeClr val="tx1"/>
                </a:solidFill>
              </a:rPr>
              <a:t>The agent is non-deterministic: identical input can take a different path and reach a different conclusion</a:t>
            </a:r>
          </a:p>
          <a:p>
            <a:pPr marL="285750" indent="-285750" algn="l">
              <a:buFont typeface="Arial" panose="020B0604020202020204" pitchFamily="34" charset="0"/>
              <a:buChar char="•"/>
            </a:pPr>
            <a:r>
              <a:rPr lang="en-US" sz="2000" b="0" dirty="0">
                <a:solidFill>
                  <a:schemeClr val="tx1"/>
                </a:solidFill>
              </a:rPr>
              <a:t>Next: year-disambiguation in the main retrieval path, a query-extraction step before BM25, a semantic cache, and broader stability testing</a:t>
            </a:r>
          </a:p>
        </p:txBody>
      </p:sp>
      <p:sp>
        <p:nvSpPr>
          <p:cNvPr id="5" name="TextBox 4">
            <a:extLst>
              <a:ext uri="{FF2B5EF4-FFF2-40B4-BE49-F238E27FC236}">
                <a16:creationId xmlns:a16="http://schemas.microsoft.com/office/drawing/2014/main" id="{688822D8-D529-2998-D46B-41BB9F87B091}"/>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Limitations and Future Improvements</a:t>
            </a:r>
          </a:p>
        </p:txBody>
      </p:sp>
    </p:spTree>
    <p:extLst>
      <p:ext uri="{BB962C8B-B14F-4D97-AF65-F5344CB8AC3E}">
        <p14:creationId xmlns:p14="http://schemas.microsoft.com/office/powerpoint/2010/main" val="20400434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60254CD-0903-966C-40EF-C5EBA490158C}"/>
              </a:ext>
            </a:extLst>
          </p:cNvPr>
          <p:cNvSpPr txBox="1"/>
          <p:nvPr/>
        </p:nvSpPr>
        <p:spPr>
          <a:xfrm>
            <a:off x="707571" y="1497600"/>
            <a:ext cx="9143999" cy="3539430"/>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endParaRPr lang="en-IN" dirty="0"/>
          </a:p>
          <a:p>
            <a:pPr algn="l"/>
            <a:r>
              <a:rPr lang="en-US" sz="2400" b="1" dirty="0">
                <a:solidFill>
                  <a:schemeClr val="tx1"/>
                </a:solidFill>
              </a:rPr>
              <a:t>Thank you!</a:t>
            </a:r>
          </a:p>
          <a:p>
            <a:pPr marL="285750" indent="-285750" algn="l">
              <a:buFont typeface="Arial" panose="020B0604020202020204" pitchFamily="34" charset="0"/>
              <a:buChar char="•"/>
            </a:pPr>
            <a:endParaRPr lang="en-US" sz="2000" b="0" dirty="0">
              <a:solidFill>
                <a:schemeClr val="tx1"/>
              </a:solidFill>
            </a:endParaRPr>
          </a:p>
          <a:p>
            <a:pPr algn="l"/>
            <a:r>
              <a:rPr lang="en-US" sz="2000" b="0" dirty="0">
                <a:solidFill>
                  <a:schemeClr val="tx1"/>
                </a:solidFill>
              </a:rPr>
              <a:t>Happy to go deeper on:</a:t>
            </a:r>
          </a:p>
          <a:p>
            <a:pPr marL="285750" indent="-285750" algn="l">
              <a:buFont typeface="Arial" panose="020B0604020202020204" pitchFamily="34" charset="0"/>
              <a:buChar char="•"/>
            </a:pPr>
            <a:r>
              <a:rPr lang="en-US" sz="2000" b="0" dirty="0">
                <a:solidFill>
                  <a:schemeClr val="tx1"/>
                </a:solidFill>
              </a:rPr>
              <a:t>Design rationale</a:t>
            </a:r>
          </a:p>
          <a:p>
            <a:pPr marL="285750" indent="-285750" algn="l">
              <a:buFont typeface="Arial" panose="020B0604020202020204" pitchFamily="34" charset="0"/>
              <a:buChar char="•"/>
            </a:pPr>
            <a:r>
              <a:rPr lang="en-US" sz="2000" b="0" dirty="0">
                <a:solidFill>
                  <a:schemeClr val="tx1"/>
                </a:solidFill>
              </a:rPr>
              <a:t>Evaluation evidence</a:t>
            </a:r>
          </a:p>
          <a:p>
            <a:pPr marL="285750" indent="-285750" algn="l">
              <a:buFont typeface="Arial" panose="020B0604020202020204" pitchFamily="34" charset="0"/>
              <a:buChar char="•"/>
            </a:pPr>
            <a:r>
              <a:rPr lang="en-US" sz="2000" b="0" dirty="0">
                <a:solidFill>
                  <a:schemeClr val="tx1"/>
                </a:solidFill>
              </a:rPr>
              <a:t>Engineering trade-offs</a:t>
            </a:r>
          </a:p>
          <a:p>
            <a:pPr algn="l"/>
            <a:br>
              <a:rPr lang="en-IN" dirty="0"/>
            </a:br>
            <a:r>
              <a:rPr sz="1600" b="0">
                <a:solidFill>
                  <a:srgbClr val="5F6368"/>
                </a:solidFill>
              </a:rPr>
              <a:t>Code and evidence:  github.com/slakhwa/mit-rag-context-eng-capstone</a:t>
            </a:r>
            <a:endParaRPr lang="en-IN" dirty="0"/>
          </a:p>
        </p:txBody>
      </p:sp>
      <p:sp>
        <p:nvSpPr>
          <p:cNvPr id="5" name="TextBox 4">
            <a:extLst>
              <a:ext uri="{FF2B5EF4-FFF2-40B4-BE49-F238E27FC236}">
                <a16:creationId xmlns:a16="http://schemas.microsoft.com/office/drawing/2014/main" id="{7FE4D497-87C5-39D6-FAF0-4FE272E0EB7E}"/>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Questions</a:t>
            </a:r>
          </a:p>
        </p:txBody>
      </p:sp>
    </p:spTree>
    <p:extLst>
      <p:ext uri="{BB962C8B-B14F-4D97-AF65-F5344CB8AC3E}">
        <p14:creationId xmlns:p14="http://schemas.microsoft.com/office/powerpoint/2010/main" val="3937486198"/>
      </p:ext>
    </p:extLst>
  </p:cSld>
  <p:clrMapOvr>
    <a:masterClrMapping/>
  </p:clrMapOvr>
</p:sld>
</file>

<file path=ppt/theme/theme1.xml><?xml version="1.0" encoding="utf-8"?>
<a:theme xmlns:a="http://schemas.openxmlformats.org/drawingml/2006/main" name="1_MIT PE">
  <a:themeElements>
    <a:clrScheme name="Blue Warm">
      <a:dk1>
        <a:srgbClr val="000000"/>
      </a:dk1>
      <a:lt1>
        <a:srgbClr val="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48</TotalTime>
  <Words>1996</Words>
  <Application>Microsoft Macintosh PowerPoint</Application>
  <PresentationFormat>Widescreen</PresentationFormat>
  <Paragraphs>89</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Times New Roman</vt:lpstr>
      <vt:lpstr>1_MIT 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 Shilpiya</dc:creator>
  <cp:lastModifiedBy>Sumeet Lakhwani</cp:lastModifiedBy>
  <cp:revision>3</cp:revision>
  <dcterms:created xsi:type="dcterms:W3CDTF">2018-11-05T13:58:18Z</dcterms:created>
  <dcterms:modified xsi:type="dcterms:W3CDTF">2026-10-28T03:38:50Z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0x010100296DC331548237488BA9A87C5C22BBA4</vt:lpwstr>
  </property>
  <property fmtid="{D5CDD505-2E9C-101B-9397-08002B2CF9AE}" pid="3" name="ArticulateGUID">
    <vt:lpwstr>405BEB8A-A8B9-422E-86C1-391F774E521D</vt:lpwstr>
  </property>
  <property fmtid="{D5CDD505-2E9C-101B-9397-08002B2CF9AE}" pid="4" name="ArticulatePath">
    <vt:lpwstr>MIT_xPRO_PPT_Template</vt:lpwstr>
  </property>
</Properties>
</file>