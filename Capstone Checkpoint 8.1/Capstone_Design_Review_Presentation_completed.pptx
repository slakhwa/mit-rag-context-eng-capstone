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" roundtripDataSignature="AMtx7mjxgbYjccChfboh+PxKghejRKdf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1F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8277F1-729D-4533-9937-95B36D51CB5B}" v="2" dt="2026-08-06T07:05:58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customschemas.google.com/relationships/presentationmetadata" Target="meta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zza Maira" userId="d0a25a6f-4008-4c86-8740-27856525f3e1" providerId="ADAL" clId="{A44FACB3-3A32-418A-B1D8-F602B668736A}"/>
    <pc:docChg chg="undo custSel addSld modSld">
      <pc:chgData name="Fizza Maira" userId="d0a25a6f-4008-4c86-8740-27856525f3e1" providerId="ADAL" clId="{A44FACB3-3A32-418A-B1D8-F602B668736A}" dt="2026-08-06T07:13:10.115" v="595" actId="1076"/>
      <pc:docMkLst>
        <pc:docMk/>
      </pc:docMkLst>
      <pc:sldChg chg="modSp mod">
        <pc:chgData name="Fizza Maira" userId="d0a25a6f-4008-4c86-8740-27856525f3e1" providerId="ADAL" clId="{A44FACB3-3A32-418A-B1D8-F602B668736A}" dt="2026-08-06T06:56:31.796" v="66" actId="207"/>
        <pc:sldMkLst>
          <pc:docMk/>
          <pc:sldMk cId="0" sldId="256"/>
        </pc:sldMkLst>
        <pc:spChg chg="mod">
          <ac:chgData name="Fizza Maira" userId="d0a25a6f-4008-4c86-8740-27856525f3e1" providerId="ADAL" clId="{A44FACB3-3A32-418A-B1D8-F602B668736A}" dt="2026-08-06T06:56:31.796" v="66" actId="207"/>
          <ac:spMkLst>
            <pc:docMk/>
            <pc:sldMk cId="0" sldId="256"/>
            <ac:spMk id="94" creationId="{00000000-0000-0000-0000-000000000000}"/>
          </ac:spMkLst>
        </pc:spChg>
      </pc:sldChg>
      <pc:sldChg chg="addSp delSp modSp mod">
        <pc:chgData name="Fizza Maira" userId="d0a25a6f-4008-4c86-8740-27856525f3e1" providerId="ADAL" clId="{A44FACB3-3A32-418A-B1D8-F602B668736A}" dt="2026-08-06T06:59:42.372" v="125" actId="1036"/>
        <pc:sldMkLst>
          <pc:docMk/>
          <pc:sldMk cId="0" sldId="257"/>
        </pc:sldMkLst>
        <pc:spChg chg="add mod">
          <ac:chgData name="Fizza Maira" userId="d0a25a6f-4008-4c86-8740-27856525f3e1" providerId="ADAL" clId="{A44FACB3-3A32-418A-B1D8-F602B668736A}" dt="2026-08-06T06:56:48.518" v="69" actId="122"/>
          <ac:spMkLst>
            <pc:docMk/>
            <pc:sldMk cId="0" sldId="257"/>
            <ac:spMk id="3" creationId="{6E5FE501-52FC-9663-175F-EE814939F785}"/>
          </ac:spMkLst>
        </pc:spChg>
        <pc:spChg chg="add mod">
          <ac:chgData name="Fizza Maira" userId="d0a25a6f-4008-4c86-8740-27856525f3e1" providerId="ADAL" clId="{A44FACB3-3A32-418A-B1D8-F602B668736A}" dt="2026-08-06T06:59:42.372" v="125" actId="1036"/>
          <ac:spMkLst>
            <pc:docMk/>
            <pc:sldMk cId="0" sldId="257"/>
            <ac:spMk id="5" creationId="{F18859DA-4EBF-86FB-39DA-CC40AEFAA531}"/>
          </ac:spMkLst>
        </pc:spChg>
        <pc:spChg chg="add del mod">
          <ac:chgData name="Fizza Maira" userId="d0a25a6f-4008-4c86-8740-27856525f3e1" providerId="ADAL" clId="{A44FACB3-3A32-418A-B1D8-F602B668736A}" dt="2026-08-06T06:56:56.706" v="71" actId="478"/>
          <ac:spMkLst>
            <pc:docMk/>
            <pc:sldMk cId="0" sldId="257"/>
            <ac:spMk id="7" creationId="{47ACB267-F7CA-D45F-F1B9-E208296EE326}"/>
          </ac:spMkLst>
        </pc:spChg>
        <pc:spChg chg="add del mod">
          <ac:chgData name="Fizza Maira" userId="d0a25a6f-4008-4c86-8740-27856525f3e1" providerId="ADAL" clId="{A44FACB3-3A32-418A-B1D8-F602B668736A}" dt="2026-08-06T06:56:52.400" v="70" actId="478"/>
          <ac:spMkLst>
            <pc:docMk/>
            <pc:sldMk cId="0" sldId="257"/>
            <ac:spMk id="9" creationId="{8C2CC35A-C1C4-C9E7-86A2-232A1BAC361B}"/>
          </ac:spMkLst>
        </pc:spChg>
      </pc:sldChg>
      <pc:sldChg chg="addSp delSp modSp mod">
        <pc:chgData name="Fizza Maira" userId="d0a25a6f-4008-4c86-8740-27856525f3e1" providerId="ADAL" clId="{A44FACB3-3A32-418A-B1D8-F602B668736A}" dt="2026-08-06T07:07:56.465" v="389" actId="1035"/>
        <pc:sldMkLst>
          <pc:docMk/>
          <pc:sldMk cId="0" sldId="258"/>
        </pc:sldMkLst>
        <pc:spChg chg="add mod">
          <ac:chgData name="Fizza Maira" userId="d0a25a6f-4008-4c86-8740-27856525f3e1" providerId="ADAL" clId="{A44FACB3-3A32-418A-B1D8-F602B668736A}" dt="2026-08-06T07:07:56.465" v="389" actId="1035"/>
          <ac:spMkLst>
            <pc:docMk/>
            <pc:sldMk cId="0" sldId="258"/>
            <ac:spMk id="3" creationId="{9809ED82-7865-1E75-8005-E3EE187972A9}"/>
          </ac:spMkLst>
        </pc:spChg>
        <pc:spChg chg="add del">
          <ac:chgData name="Fizza Maira" userId="d0a25a6f-4008-4c86-8740-27856525f3e1" providerId="ADAL" clId="{A44FACB3-3A32-418A-B1D8-F602B668736A}" dt="2026-08-06T06:57:33.761" v="75" actId="22"/>
          <ac:spMkLst>
            <pc:docMk/>
            <pc:sldMk cId="0" sldId="258"/>
            <ac:spMk id="5" creationId="{8F03CF5C-94F2-6975-E3F3-1B4B69AD5D5D}"/>
          </ac:spMkLst>
        </pc:spChg>
        <pc:spChg chg="add del mod">
          <ac:chgData name="Fizza Maira" userId="d0a25a6f-4008-4c86-8740-27856525f3e1" providerId="ADAL" clId="{A44FACB3-3A32-418A-B1D8-F602B668736A}" dt="2026-08-06T06:58:06.206" v="84" actId="21"/>
          <ac:spMkLst>
            <pc:docMk/>
            <pc:sldMk cId="0" sldId="258"/>
            <ac:spMk id="7" creationId="{22D905D9-AAC5-3957-E29C-1F3E78727844}"/>
          </ac:spMkLst>
        </pc:spChg>
        <pc:spChg chg="add mod">
          <ac:chgData name="Fizza Maira" userId="d0a25a6f-4008-4c86-8740-27856525f3e1" providerId="ADAL" clId="{A44FACB3-3A32-418A-B1D8-F602B668736A}" dt="2026-08-06T07:07:18.056" v="299" actId="12788"/>
          <ac:spMkLst>
            <pc:docMk/>
            <pc:sldMk cId="0" sldId="258"/>
            <ac:spMk id="9" creationId="{73F3F64E-BE4D-D3DF-57D5-BF67AE1E9EDD}"/>
          </ac:spMkLst>
        </pc:spChg>
      </pc:sldChg>
      <pc:sldChg chg="addSp modSp new mod">
        <pc:chgData name="Fizza Maira" userId="d0a25a6f-4008-4c86-8740-27856525f3e1" providerId="ADAL" clId="{A44FACB3-3A32-418A-B1D8-F602B668736A}" dt="2026-08-06T07:08:22.098" v="420" actId="1035"/>
        <pc:sldMkLst>
          <pc:docMk/>
          <pc:sldMk cId="3289224814" sldId="259"/>
        </pc:sldMkLst>
        <pc:spChg chg="add mod">
          <ac:chgData name="Fizza Maira" userId="d0a25a6f-4008-4c86-8740-27856525f3e1" providerId="ADAL" clId="{A44FACB3-3A32-418A-B1D8-F602B668736A}" dt="2026-08-06T07:08:22.098" v="420" actId="1035"/>
          <ac:spMkLst>
            <pc:docMk/>
            <pc:sldMk cId="3289224814" sldId="259"/>
            <ac:spMk id="3" creationId="{31AE4673-2310-7768-CAFE-C71E228846A7}"/>
          </ac:spMkLst>
        </pc:spChg>
        <pc:spChg chg="add mod">
          <ac:chgData name="Fizza Maira" userId="d0a25a6f-4008-4c86-8740-27856525f3e1" providerId="ADAL" clId="{A44FACB3-3A32-418A-B1D8-F602B668736A}" dt="2026-08-06T07:07:48.107" v="348" actId="20577"/>
          <ac:spMkLst>
            <pc:docMk/>
            <pc:sldMk cId="3289224814" sldId="259"/>
            <ac:spMk id="5" creationId="{98CF4003-6B2E-87CF-2817-76889C6135B4}"/>
          </ac:spMkLst>
        </pc:spChg>
      </pc:sldChg>
      <pc:sldChg chg="addSp modSp new mod">
        <pc:chgData name="Fizza Maira" userId="d0a25a6f-4008-4c86-8740-27856525f3e1" providerId="ADAL" clId="{A44FACB3-3A32-418A-B1D8-F602B668736A}" dt="2026-08-06T07:10:21.214" v="482"/>
        <pc:sldMkLst>
          <pc:docMk/>
          <pc:sldMk cId="3987153470" sldId="260"/>
        </pc:sldMkLst>
        <pc:spChg chg="add mod">
          <ac:chgData name="Fizza Maira" userId="d0a25a6f-4008-4c86-8740-27856525f3e1" providerId="ADAL" clId="{A44FACB3-3A32-418A-B1D8-F602B668736A}" dt="2026-08-06T07:09:54.338" v="481" actId="1076"/>
          <ac:spMkLst>
            <pc:docMk/>
            <pc:sldMk cId="3987153470" sldId="260"/>
            <ac:spMk id="3" creationId="{FBE09B85-CBAA-6E41-F9C1-5D0C62D32631}"/>
          </ac:spMkLst>
        </pc:spChg>
        <pc:spChg chg="add mod">
          <ac:chgData name="Fizza Maira" userId="d0a25a6f-4008-4c86-8740-27856525f3e1" providerId="ADAL" clId="{A44FACB3-3A32-418A-B1D8-F602B668736A}" dt="2026-08-06T07:10:21.214" v="482"/>
          <ac:spMkLst>
            <pc:docMk/>
            <pc:sldMk cId="3987153470" sldId="260"/>
            <ac:spMk id="5" creationId="{E2D08B99-26E8-96E3-B453-DEED97ED3C1F}"/>
          </ac:spMkLst>
        </pc:spChg>
      </pc:sldChg>
      <pc:sldChg chg="addSp modSp new mod">
        <pc:chgData name="Fizza Maira" userId="d0a25a6f-4008-4c86-8740-27856525f3e1" providerId="ADAL" clId="{A44FACB3-3A32-418A-B1D8-F602B668736A}" dt="2026-08-06T07:11:25.705" v="519" actId="1076"/>
        <pc:sldMkLst>
          <pc:docMk/>
          <pc:sldMk cId="684907484" sldId="261"/>
        </pc:sldMkLst>
        <pc:spChg chg="add mod">
          <ac:chgData name="Fizza Maira" userId="d0a25a6f-4008-4c86-8740-27856525f3e1" providerId="ADAL" clId="{A44FACB3-3A32-418A-B1D8-F602B668736A}" dt="2026-08-06T07:11:25.705" v="519" actId="1076"/>
          <ac:spMkLst>
            <pc:docMk/>
            <pc:sldMk cId="684907484" sldId="261"/>
            <ac:spMk id="3" creationId="{F6631922-EDA2-CA93-9A0A-C814D5C410DE}"/>
          </ac:spMkLst>
        </pc:spChg>
        <pc:spChg chg="add mod">
          <ac:chgData name="Fizza Maira" userId="d0a25a6f-4008-4c86-8740-27856525f3e1" providerId="ADAL" clId="{A44FACB3-3A32-418A-B1D8-F602B668736A}" dt="2026-08-06T07:10:54.305" v="515"/>
          <ac:spMkLst>
            <pc:docMk/>
            <pc:sldMk cId="684907484" sldId="261"/>
            <ac:spMk id="5" creationId="{BC92D5CD-CEED-CAF9-8E1C-650675A313C3}"/>
          </ac:spMkLst>
        </pc:spChg>
      </pc:sldChg>
      <pc:sldChg chg="addSp modSp new mod">
        <pc:chgData name="Fizza Maira" userId="d0a25a6f-4008-4c86-8740-27856525f3e1" providerId="ADAL" clId="{A44FACB3-3A32-418A-B1D8-F602B668736A}" dt="2026-08-06T07:12:09.100" v="557" actId="1076"/>
        <pc:sldMkLst>
          <pc:docMk/>
          <pc:sldMk cId="2040043498" sldId="262"/>
        </pc:sldMkLst>
        <pc:spChg chg="add mod">
          <ac:chgData name="Fizza Maira" userId="d0a25a6f-4008-4c86-8740-27856525f3e1" providerId="ADAL" clId="{A44FACB3-3A32-418A-B1D8-F602B668736A}" dt="2026-08-06T07:12:09.100" v="557" actId="1076"/>
          <ac:spMkLst>
            <pc:docMk/>
            <pc:sldMk cId="2040043498" sldId="262"/>
            <ac:spMk id="3" creationId="{158013A2-70CA-8E35-F3F3-F40CD428166B}"/>
          </ac:spMkLst>
        </pc:spChg>
        <pc:spChg chg="add mod">
          <ac:chgData name="Fizza Maira" userId="d0a25a6f-4008-4c86-8740-27856525f3e1" providerId="ADAL" clId="{A44FACB3-3A32-418A-B1D8-F602B668736A}" dt="2026-08-06T07:11:53.354" v="555"/>
          <ac:spMkLst>
            <pc:docMk/>
            <pc:sldMk cId="2040043498" sldId="262"/>
            <ac:spMk id="5" creationId="{688822D8-D529-2998-D46B-41BB9F87B091}"/>
          </ac:spMkLst>
        </pc:spChg>
      </pc:sldChg>
      <pc:sldChg chg="addSp modSp new mod">
        <pc:chgData name="Fizza Maira" userId="d0a25a6f-4008-4c86-8740-27856525f3e1" providerId="ADAL" clId="{A44FACB3-3A32-418A-B1D8-F602B668736A}" dt="2026-08-06T07:13:10.115" v="595" actId="1076"/>
        <pc:sldMkLst>
          <pc:docMk/>
          <pc:sldMk cId="3937486198" sldId="263"/>
        </pc:sldMkLst>
        <pc:spChg chg="add mod">
          <ac:chgData name="Fizza Maira" userId="d0a25a6f-4008-4c86-8740-27856525f3e1" providerId="ADAL" clId="{A44FACB3-3A32-418A-B1D8-F602B668736A}" dt="2026-08-06T07:13:10.115" v="595" actId="1076"/>
          <ac:spMkLst>
            <pc:docMk/>
            <pc:sldMk cId="3937486198" sldId="263"/>
            <ac:spMk id="3" creationId="{460254CD-0903-966C-40EF-C5EBA490158C}"/>
          </ac:spMkLst>
        </pc:spChg>
        <pc:spChg chg="add mod">
          <ac:chgData name="Fizza Maira" userId="d0a25a6f-4008-4c86-8740-27856525f3e1" providerId="ADAL" clId="{A44FACB3-3A32-418A-B1D8-F602B668736A}" dt="2026-08-06T07:12:49.659" v="592"/>
          <ac:spMkLst>
            <pc:docMk/>
            <pc:sldMk cId="3937486198" sldId="263"/>
            <ac:spMk id="5" creationId="{7FE4D497-87C5-39D6-FAF0-4FE272E0EB7E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Hi, I'm Sumeet. This is my capstone design review for a retrieval-augmented LLM system I call the Research Paper Navigator, built incrementally across eight checkpoints this program. Over the next few minutes I'll walk through the problem it solves, how it works, how I evaluated it, the key engineering decisions and trade-offs behind it, and what's still left to improve.</a:t>
            </a:r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My capstone system is a Research Paper Navigator — a retrieval-augmented assistant over a real corpus of 153 computer-science research papers, mostly in program synthesis, programming languages, and neuro-symbolic AI. The core problem it solves is trustworthy question answering: a researcher or student exploring this literature needs answers that are actually grounded in and quotable from the papers themselves, not answers that merely sound plausible.</a:t>
            </a:r>
          </a:p>
          <a:p/>
          <a:p>
            <a:r>
              <a:t>This matters because I proved it's a real problem, not a hypothetical one, with evidence in Checkpoint 1.1. I asked a bare LLM — no retrieval at all — questions about papers in this exact corpus, and it hallucinated three different ways: it invented a wrong title for a real Genome Biology paper, it fabricated a verbatim quote from a paper's abstract that doesn't actually exist in the text, and it invented a precise-sounding but entirely made-up performance statistic when comparing two systems. In every case it stated the wrong answer with full, unhedged confidence — exactly the failure mode that makes an un-grounded LLM risky for this use case.</a:t>
            </a: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 a high level, the system has five stages, built up incrementally across the program. A user's question first passes through an input sanitizer, then a router decides whether it's simple enough for a single-call direct path or complex enough to need the full agent loop. Either way, retrieval runs next: a BM25 keyword index over all 153 papers, chunked into roughly 15,500 passages of 250 words each with 50-word overlap.</a:t>
            </a:r>
          </a:p>
          <a:p/>
          <a:p>
            <a:r>
              <a:t>For complex, multistep questions, an agent loop takes over: a planner model looks at what's been retrieved so far, decides if it's enough to answer, and if not, issues a new, targeted search — up to three rounds. Finally, an answer-generation call produces the response, strictly grounded in the retrieved document block, with every other part of the prompt — the user's own question text, any text they paste in — treated as plain data, never as instructions. That data-versus-instruction boundary is the backbone of the security hardening I'll come back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Checkpoint 2.1 established the baseline: a plain BM25 keyword retriever, which is fast, free, and deterministic — appropriate given this is a fixed academic corpus with precise technical vocabulary, where exact term matches do a lot of work. Checkpoint 3.1 then built the evaluation harness I reused for the rest of the program: an LLM-judge that scores an answer pass or fail against grading notes I wrote myself for five representative questions. Keeping that exact same five-question set unchanged across every later checkpoint is what let me do honest before-and-after comparisons instead of cherry-picked ones.</a:t>
            </a:r>
          </a:p>
          <a:p/>
          <a:p>
            <a:r>
              <a:t>The most important result is from Checkpoint 4.1: I diagnosed a real retrieval failure — a question about a specific 2018 paper by Ellis et al. never retrieved that paper's own text, because a different paper that merely cited it was far more keyword-dense and ranked higher. I fixed this with a citation and same-author graph, built from the corpus's own filename conventions and in-text citation mentions, disambiguated by year. That fix worked exactly as designed on the targeted question — but on the SAME evaluation set, a different question that used to pass started failing, because swapping in the related paper evicted a chunk that was load-bearing for that other question. Net pass rate: four out of five, both before and after. That's not a failure of the fix — it's an honest demonstration that retrieval improvements under a fixed context budget are trade-offs, not free wins.</a:t>
            </a:r>
          </a:p>
          <a:p/>
          <a:p>
            <a:r>
              <a:t>I want to be equally honest about what's still broken. A citation-misattribution bug — confusing a 2018 paper with a different, later paper by the same authors — showed up first in Checkpoint 5.1, and I was still finding it as late as Checkpoint 7.1. It's a real, open limitation I'll come back to shortly.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few decisions stand out as genuinely consequential, and I want to explain the reasoning, not just the outcome.</a:t>
            </a:r>
          </a:p>
          <a:p/>
          <a:p>
            <a:r>
              <a:t>First, I chose BM25 keyword retrieval over semantic embeddings for this stage. This corpus is academic papers with precise, stable technical vocabulary — author names, algorithm names, exact terms — exactly the case where keyword matching is strong and where an embedding model's fuzzier similarity can actually underperform. I treated semantic retrieval as a deliberate next-iteration item, not a gap I papered over.</a:t>
            </a:r>
          </a:p>
          <a:p/>
          <a:p>
            <a:r>
              <a:t>Second, when I added citation-aware retrieval in Checkpoint 4.1, I chose a lightweight, explainable graph built directly from the corpus's own filename conventions and in-text citation mentions, rather than a new ML model. I verified it by hand — checking that a citation to 'Ellis et al. 2018' only connects to the actual 2018 paper, not every paper that author wrote — before trusting it.</a:t>
            </a:r>
          </a:p>
          <a:p/>
          <a:p>
            <a:r>
              <a:t>Third, every advanced retrieval technique I added was constrained to use the SAME document budget as the baseline, to keep every comparison fair. That's also exactly what exposed the Checkpoint 4.1 trade-off — a more honest result than a comparison that quietly gives the new approach more resources.</a:t>
            </a:r>
          </a:p>
          <a:p/>
          <a:p>
            <a:r>
              <a:t>Finally, by Checkpoint 7.1 the central lesson of the security and performance work was that there's no single, complete fix. I verified this directly: extending my input sanitizer closed two real gaps, but on the same test case it also increased token cost by 65% and revived a citation bug the unsanitized version had actually avoided. I chose to report that honestly rather than claim a clean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system from this program is finished, and I want to be specific about what's actually still open.</a:t>
            </a:r>
          </a:p>
          <a:p/>
          <a:p>
            <a:r>
              <a:t>The most persistent issue is the citation-year misattribution bug. It first appeared in Checkpoint 5.1, and I confirmed it again as late as Checkpoint 7.1 — the system can answer a question about a specific, named 2018 paper using content that's actually from a different paper by the same authors. None of my security or cost work in Modules 6 and 7 targets this, because it's a retrieval-and-reasoning correctness problem, not a security or cost problem — it needs a different fix.</a:t>
            </a:r>
          </a:p>
          <a:p/>
          <a:p>
            <a:r>
              <a:t>Second, I found BM25's retrieval quality is highly sensitive to how verbosely a question is phrased — the exact same information need can rank a target document anywhere from 8th to 28th purely based on wording, which I confirmed by directly scoring different phrasings against my index. This matters because my Checkpoint 7.1 security fix — a phrase-based sanitizer — can neutralize an attack's trigger words while leaving enough other words behind to still dilute the ranking. A blocklist fixes instruction-following; it doesn't fix verbosity.</a:t>
            </a:r>
          </a:p>
          <a:p/>
          <a:p>
            <a:r>
              <a:t>Third, the agent is genuinely non-deterministic — I found cases in Checkpoint 5.1 where the identical question, run twice, took a different number of search steps and reached a different conclusion.</a:t>
            </a:r>
          </a:p>
          <a:p/>
          <a:p>
            <a:r>
              <a:t>If I continued this project, my next three priorities would be: porting the citation graph's year-disambiguation directly into the main retrieval path; adding a step that extracts a short core query before it reaches BM25, since that's the only approach I've found that actually addresses verbosity dilution; and replacing the exact-match cache with a semantic one, so a rephrased repeat question still gets the cost benefit.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 — happy to take questions. I'm glad to go deeper on any of the design rationale, the evaluation evidence, or the engineering trade-offs I've walked 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419600"/>
            <a:ext cx="121920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30830" y="3686830"/>
            <a:ext cx="1905000" cy="522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Blank">
  <p:cSld name="5_Blank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97369" y="6362197"/>
            <a:ext cx="960461" cy="37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751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Blank">
  <p:cSld name="7_Blank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7"/>
          <p:cNvPicPr preferRelativeResize="0"/>
          <p:nvPr/>
        </p:nvPicPr>
        <p:blipFill rotWithShape="1">
          <a:blip r:embed="rId2">
            <a:alphaModFix amt="5000"/>
          </a:blip>
          <a:srcRect/>
          <a:stretch/>
        </p:blipFill>
        <p:spPr>
          <a:xfrm>
            <a:off x="3976469" y="2607021"/>
            <a:ext cx="4239062" cy="1643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751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/>
        </p:nvSpPr>
        <p:spPr>
          <a:xfrm>
            <a:off x="261257" y="5321712"/>
            <a:ext cx="10896599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Capstone</a:t>
            </a:r>
            <a:r>
              <a:rPr lang="en-IN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Design Review Presentation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291078" y="1298425"/>
            <a:ext cx="11609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 slide title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5FE501-52FC-9663-175F-EE814939F785}"/>
              </a:ext>
            </a:extLst>
          </p:cNvPr>
          <p:cNvSpPr txBox="1"/>
          <p:nvPr/>
        </p:nvSpPr>
        <p:spPr>
          <a:xfrm>
            <a:off x="859972" y="2488225"/>
            <a:ext cx="10472057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800" b="1">
                <a:solidFill>
                  <a:srgbClr val="A31F3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r>
              <a:rPr lang="en-IN" dirty="0"/>
              <a:t>Designing and Evaluating a Retrieval-Augmented LLM System</a:t>
            </a:r>
          </a:p>
          <a:p>
            <a:pPr algn="ctr"/>
            <a:r>
              <a:rPr lang="en-IN" dirty="0"/>
              <a:t>Sumeet Lakhwani  |  Research Paper Navigator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8859DA-4EBF-86FB-39DA-CC40AEFAA531}"/>
              </a:ext>
            </a:extLst>
          </p:cNvPr>
          <p:cNvSpPr txBox="1"/>
          <p:nvPr/>
        </p:nvSpPr>
        <p:spPr>
          <a:xfrm>
            <a:off x="850434" y="4692555"/>
            <a:ext cx="93059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agent-based, security- and cost-hardened retrieval-augmented system over 153 real computer-science research papers — built incrementally across Capstone Checkpoints 1.1 through 7.1.</a:t>
            </a: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endParaRPr lang="en-IN" sz="2000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09ED82-7865-1E75-8005-E3EE187972A9}"/>
              </a:ext>
            </a:extLst>
          </p:cNvPr>
          <p:cNvSpPr txBox="1"/>
          <p:nvPr/>
        </p:nvSpPr>
        <p:spPr>
          <a:xfrm>
            <a:off x="707571" y="1487847"/>
            <a:ext cx="914399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2800" b="1">
                <a:solidFill>
                  <a:srgbClr val="A31F3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endParaRPr lang="en-IN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</a:rPr>
              <a:t>Answer multistep, cross-document questions over a 153-paper CS research corpus, grounded in and quotable from the actual source text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</a:rPr>
              <a:t>A researcher or student navigating this specific paper collection who needs trustworthy, citable answers — not confident-sounding guesses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</a:rPr>
              <a:t>Checkpoint 1.1 proved it's a real risk: a bare LLM with no retrieval invented a wrong paper title, a fake quote, and a fabricated statistic — all stated with full confidence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F3F64E-BE4D-D3DF-57D5-BF67AE1E9EDD}"/>
              </a:ext>
            </a:extLst>
          </p:cNvPr>
          <p:cNvSpPr txBox="1"/>
          <p:nvPr/>
        </p:nvSpPr>
        <p:spPr>
          <a:xfrm>
            <a:off x="3048000" y="6081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AE4673-2310-7768-CAFE-C71E228846A7}"/>
              </a:ext>
            </a:extLst>
          </p:cNvPr>
          <p:cNvSpPr txBox="1"/>
          <p:nvPr/>
        </p:nvSpPr>
        <p:spPr>
          <a:xfrm>
            <a:off x="707571" y="1325880"/>
            <a:ext cx="914399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2800" b="1">
                <a:solidFill>
                  <a:srgbClr val="A31F34"/>
                </a:solidFill>
                <a:latin typeface="Calibri"/>
                <a:ea typeface="Calibri"/>
                <a:cs typeface="Calibri"/>
              </a:defRPr>
            </a:lvl1pPr>
          </a:lstStyle>
          <a:p>
            <a:endParaRPr lang="en-IN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Five-stage pipeline, composed from Checkpoints 2.1-7.1: retrieval, evaluation, agentic reasoning, and security/cost hardening in one system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A lightweight router sends simple one-hop questions straight to a single-call answer, and multistep questions into an agent loop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Every answer is generated strictly from the retrieved documents — the user's own question text is treated as data, never instructions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CF4003-6B2E-87CF-2817-76889C6135B4}"/>
              </a:ext>
            </a:extLst>
          </p:cNvPr>
          <p:cNvSpPr txBox="1"/>
          <p:nvPr/>
        </p:nvSpPr>
        <p:spPr>
          <a:xfrm>
            <a:off x="3048000" y="6081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Solution</a:t>
            </a:r>
          </a:p>
        </p:txBody>
      </p:sp>
      <p:sp>
        <p:nvSpPr>
          <p:cNvPr id="6" name="Oval 5"/>
          <p:cNvSpPr/>
          <p:nvPr/>
        </p:nvSpPr>
        <p:spPr>
          <a:xfrm>
            <a:off x="1328623" y="306324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20440"/>
            <a:ext cx="1925726" cy="82296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3520440"/>
            <a:ext cx="1925726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0" bIns="50800"/>
          <a:lstStyle/>
          <a:p>
            <a:pPr algn="ctr"/>
            <a:r>
              <a:rPr sz="1300" b="1">
                <a:solidFill>
                  <a:srgbClr val="202124"/>
                </a:solidFill>
              </a:rPr>
              <a:t>User Question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5F6368"/>
                </a:solidFill>
              </a:rPr>
              <a:t>Natural-language research question</a:t>
            </a:r>
          </a:p>
        </p:txBody>
      </p:sp>
      <p:sp>
        <p:nvSpPr>
          <p:cNvPr id="9" name="Oval 8"/>
          <p:cNvSpPr/>
          <p:nvPr/>
        </p:nvSpPr>
        <p:spPr>
          <a:xfrm>
            <a:off x="3620109" y="306324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40126" y="3520440"/>
            <a:ext cx="1925726" cy="82296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40126" y="3520440"/>
            <a:ext cx="1925726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0" bIns="50800"/>
          <a:lstStyle/>
          <a:p>
            <a:pPr algn="ctr"/>
            <a:r>
              <a:rPr sz="1300" b="1">
                <a:solidFill>
                  <a:srgbClr val="202124"/>
                </a:solidFill>
              </a:rPr>
              <a:t>Sanitize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5F6368"/>
                </a:solidFill>
              </a:rPr>
              <a:t>Strip injected instructions; escape untrusted text</a:t>
            </a:r>
          </a:p>
        </p:txBody>
      </p:sp>
      <p:sp>
        <p:nvSpPr>
          <p:cNvPr id="12" name="Oval 11"/>
          <p:cNvSpPr/>
          <p:nvPr/>
        </p:nvSpPr>
        <p:spPr>
          <a:xfrm>
            <a:off x="5911596" y="306324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1612" y="3520440"/>
            <a:ext cx="1925726" cy="82296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31612" y="3520440"/>
            <a:ext cx="1925726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0" bIns="50800"/>
          <a:lstStyle/>
          <a:p>
            <a:pPr algn="ctr"/>
            <a:r>
              <a:rPr sz="1300" b="1">
                <a:solidFill>
                  <a:srgbClr val="202124"/>
                </a:solidFill>
              </a:rPr>
              <a:t>Route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5F6368"/>
                </a:solidFill>
              </a:rPr>
              <a:t>Simple one-hop vs. multistep question</a:t>
            </a:r>
          </a:p>
        </p:txBody>
      </p:sp>
      <p:sp>
        <p:nvSpPr>
          <p:cNvPr id="15" name="Oval 14"/>
          <p:cNvSpPr/>
          <p:nvPr/>
        </p:nvSpPr>
        <p:spPr>
          <a:xfrm>
            <a:off x="8203082" y="306324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23099" y="3520440"/>
            <a:ext cx="1925726" cy="82296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3099" y="3520440"/>
            <a:ext cx="1925726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0" bIns="50800"/>
          <a:lstStyle/>
          <a:p>
            <a:pPr algn="ctr"/>
            <a:r>
              <a:rPr sz="1300" b="1">
                <a:solidFill>
                  <a:srgbClr val="202124"/>
                </a:solidFill>
              </a:rPr>
              <a:t>Retrieve + Decide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5F6368"/>
                </a:solidFill>
              </a:rPr>
              <a:t>BM25 + citation graph; agent loop, ≤ 3 rounds</a:t>
            </a:r>
          </a:p>
        </p:txBody>
      </p:sp>
      <p:sp>
        <p:nvSpPr>
          <p:cNvPr id="18" name="Oval 17"/>
          <p:cNvSpPr/>
          <p:nvPr/>
        </p:nvSpPr>
        <p:spPr>
          <a:xfrm>
            <a:off x="10494568" y="3063240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14585" y="3520440"/>
            <a:ext cx="1925726" cy="82296"/>
          </a:xfrm>
          <a:prstGeom prst="roundRect">
            <a:avLst>
              <a:gd name="adj" fmla="val 50000"/>
            </a:avLst>
          </a:prstGeom>
          <a:solidFill>
            <a:srgbClr val="0B4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714585" y="3520440"/>
            <a:ext cx="1925726" cy="100584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90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0" bIns="50800"/>
          <a:lstStyle/>
          <a:p>
            <a:pPr algn="ctr"/>
            <a:r>
              <a:rPr sz="1300" b="1">
                <a:solidFill>
                  <a:srgbClr val="0B479C"/>
                </a:solidFill>
              </a:rPr>
              <a:t>Answer</a:t>
            </a:r>
          </a:p>
          <a:p>
            <a:pPr algn="ctr">
              <a:spcBef>
                <a:spcPts val="300"/>
              </a:spcBef>
            </a:pPr>
            <a:r>
              <a:rPr sz="950" b="0">
                <a:solidFill>
                  <a:srgbClr val="5F6368"/>
                </a:solidFill>
              </a:rPr>
              <a:t>Grounded only in retrieved documents (XML-hardened)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74366" y="4023360"/>
            <a:ext cx="365760" cy="0"/>
          </a:xfrm>
          <a:prstGeom prst="line">
            <a:avLst/>
          </a:prstGeom>
          <a:ln w="22225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5852" y="4023360"/>
            <a:ext cx="365760" cy="0"/>
          </a:xfrm>
          <a:prstGeom prst="line">
            <a:avLst/>
          </a:prstGeom>
          <a:ln w="22225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57339" y="4023360"/>
            <a:ext cx="365760" cy="0"/>
          </a:xfrm>
          <a:prstGeom prst="line">
            <a:avLst/>
          </a:prstGeom>
          <a:ln w="22225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348825" y="4023360"/>
            <a:ext cx="365760" cy="0"/>
          </a:xfrm>
          <a:prstGeom prst="line">
            <a:avLst/>
          </a:prstGeom>
          <a:ln w="22225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4800600"/>
            <a:ext cx="11091672" cy="86868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76200" bIns="76200"/>
          <a:lstStyle/>
          <a:p>
            <a:pPr algn="ctr"/>
            <a:r>
              <a:rPr sz="1100" b="0">
                <a:solidFill>
                  <a:srgbClr val="202124"/>
                </a:solidFill>
              </a:rPr>
              <a:t>Router sends simple, one-hop questions straight to Answer in a single LLM call.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5F6368"/>
                </a:solidFill>
              </a:rPr>
              <a:t>Multistep questions iterate through Retrieve ⇄ Decide (agent loop, capped at 3 rounds) before answering.</a:t>
            </a:r>
          </a:p>
        </p:txBody>
      </p:sp>
    </p:spTree>
    <p:extLst>
      <p:ext uri="{BB962C8B-B14F-4D97-AF65-F5344CB8AC3E}">
        <p14:creationId xmlns:p14="http://schemas.microsoft.com/office/powerpoint/2010/main" val="3289224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E09B85-CBAA-6E41-F9C1-5D0C62D32631}"/>
              </a:ext>
            </a:extLst>
          </p:cNvPr>
          <p:cNvSpPr txBox="1"/>
          <p:nvPr/>
        </p:nvSpPr>
        <p:spPr>
          <a:xfrm>
            <a:off x="707571" y="1497600"/>
            <a:ext cx="914399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2800" b="1">
                <a:solidFill>
                  <a:srgbClr val="A31F34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IN" dirty="0"/>
              <a:t>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BM25 keyword baseline (2.1), extended with a citation + same-author graph (4.1) to reach papers keyword search alone can't surface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An LLM-judge scoring pass/fail against written grading notes on a fixed 5-question set (3.1), reused unchanged across every later checkpoint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Graph retrieval fixed a targeted failure (a paper unreachable at BM25 rank ~122) but regressed a different question — net pass rate unchanged, 4/5 both before and after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Real, measured fixes for hallucination, injection, and cost — but a citation-year misattribution bug persists, unresolved, across 5 checkpoints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D08B99-26E8-96E3-B453-DEED97ED3C1F}"/>
              </a:ext>
            </a:extLst>
          </p:cNvPr>
          <p:cNvSpPr txBox="1"/>
          <p:nvPr/>
        </p:nvSpPr>
        <p:spPr>
          <a:xfrm>
            <a:off x="3048000" y="6081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Retrieval and Evaluation</a:t>
            </a:r>
          </a:p>
        </p:txBody>
      </p:sp>
    </p:spTree>
    <p:extLst>
      <p:ext uri="{BB962C8B-B14F-4D97-AF65-F5344CB8AC3E}">
        <p14:creationId xmlns:p14="http://schemas.microsoft.com/office/powerpoint/2010/main" val="3987153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631922-EDA2-CA93-9A0A-C814D5C410DE}"/>
              </a:ext>
            </a:extLst>
          </p:cNvPr>
          <p:cNvSpPr txBox="1"/>
          <p:nvPr/>
        </p:nvSpPr>
        <p:spPr>
          <a:xfrm>
            <a:off x="707571" y="1497600"/>
            <a:ext cx="914399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2800" b="1">
                <a:solidFill>
                  <a:srgbClr val="A31F34"/>
                </a:solidFill>
                <a:latin typeface="Calibri"/>
                <a:ea typeface="Calibri"/>
                <a:cs typeface="Calibri"/>
              </a:defRPr>
            </a:lvl1pPr>
          </a:lstStyle>
          <a:p>
            <a:endParaRPr lang="en-IN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Chose BM25 over embeddings: free, deterministic, and strong on this corpus's precise technical vocabulary — semantic retrieval deferred as a deliberate next-iteration item, not a hidden gap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Citation graph built from filename conventions + year-disambiguated text mentions, not a new ML model — cheap and verifiable by hand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Every advanced technique kept the baseline's exact document budget, which is what exposed the Checkpoint 4.1 trade-off honestly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By 7.1: no single safeguard is sufficient — chose layered, partial defenses and reported their side effects rather than claiming one 'complete' fix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2D5CD-CEED-CAF9-8E1C-650675A313C3}"/>
              </a:ext>
            </a:extLst>
          </p:cNvPr>
          <p:cNvSpPr txBox="1"/>
          <p:nvPr/>
        </p:nvSpPr>
        <p:spPr>
          <a:xfrm>
            <a:off x="3048000" y="6081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Engineering Decisions</a:t>
            </a:r>
          </a:p>
        </p:txBody>
      </p:sp>
    </p:spTree>
    <p:extLst>
      <p:ext uri="{BB962C8B-B14F-4D97-AF65-F5344CB8AC3E}">
        <p14:creationId xmlns:p14="http://schemas.microsoft.com/office/powerpoint/2010/main" val="684907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8013A2-70CA-8E35-F3F3-F40CD428166B}"/>
              </a:ext>
            </a:extLst>
          </p:cNvPr>
          <p:cNvSpPr txBox="1"/>
          <p:nvPr/>
        </p:nvSpPr>
        <p:spPr>
          <a:xfrm>
            <a:off x="707571" y="1497600"/>
            <a:ext cx="9143999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2800" b="1">
                <a:solidFill>
                  <a:srgbClr val="A31F34"/>
                </a:solidFill>
                <a:latin typeface="Calibri"/>
                <a:ea typeface="Calibri"/>
                <a:cs typeface="Calibri"/>
              </a:defRPr>
            </a:lvl1pPr>
          </a:lstStyle>
          <a:p>
            <a:endParaRPr lang="en-IN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Citation-year misattribution (unresolved, 5+ checkpoints) and BM25's sensitivity to query verbosity — the same information need ranks anywhere from 8th to 28th purely by phrasing, confirmed by direct testing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The agent is non-deterministic: identical input can take a different number of search steps and reach a different conclusion across runs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Next: port year-disambiguation into the main retrieval path; add a query-extraction step ahead of BM25; move to a semantic cache; broaden the eval set and test run-to-run stability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8822D8-D529-2998-D46B-41BB9F87B091}"/>
              </a:ext>
            </a:extLst>
          </p:cNvPr>
          <p:cNvSpPr txBox="1"/>
          <p:nvPr/>
        </p:nvSpPr>
        <p:spPr>
          <a:xfrm>
            <a:off x="3048000" y="6081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 and Future Improvements</a:t>
            </a:r>
          </a:p>
        </p:txBody>
      </p:sp>
    </p:spTree>
    <p:extLst>
      <p:ext uri="{BB962C8B-B14F-4D97-AF65-F5344CB8AC3E}">
        <p14:creationId xmlns:p14="http://schemas.microsoft.com/office/powerpoint/2010/main" val="2040043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0254CD-0903-966C-40EF-C5EBA490158C}"/>
              </a:ext>
            </a:extLst>
          </p:cNvPr>
          <p:cNvSpPr txBox="1"/>
          <p:nvPr/>
        </p:nvSpPr>
        <p:spPr>
          <a:xfrm>
            <a:off x="707571" y="1497600"/>
            <a:ext cx="914399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2800" b="1">
                <a:solidFill>
                  <a:srgbClr val="A31F34"/>
                </a:solidFill>
                <a:latin typeface="Calibri"/>
                <a:ea typeface="Calibri"/>
                <a:cs typeface="Calibri"/>
              </a:defRPr>
            </a:lvl1pPr>
          </a:lstStyle>
          <a:p>
            <a:endParaRPr lang="en-IN" dirty="0"/>
          </a:p>
          <a:p>
            <a:pPr algn="l"/>
            <a:r>
              <a:rPr lang="en-US" sz="2000" b="0" dirty="0">
                <a:solidFill>
                  <a:schemeClr val="tx1"/>
                </a:solidFill>
              </a:rPr>
              <a:t>Thank you!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b="0" dirty="0">
              <a:solidFill>
                <a:schemeClr val="tx1"/>
              </a:solidFill>
            </a:endParaRPr>
          </a:p>
          <a:p>
            <a:pPr algn="l"/>
            <a:r>
              <a:rPr lang="en-US" sz="2000" b="0" dirty="0">
                <a:solidFill>
                  <a:schemeClr val="tx1"/>
                </a:solidFill>
              </a:rPr>
              <a:t>Be prepared to discuss: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Design rationale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Evaluation evidence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Engineering trade-offs</a:t>
            </a:r>
          </a:p>
          <a:p>
            <a:pPr algn="l"/>
            <a:br>
              <a:rPr lang="en-IN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E4D497-87C5-39D6-FAF0-4FE272E0EB7E}"/>
              </a:ext>
            </a:extLst>
          </p:cNvPr>
          <p:cNvSpPr txBox="1"/>
          <p:nvPr/>
        </p:nvSpPr>
        <p:spPr>
          <a:xfrm>
            <a:off x="3048000" y="6081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937486198"/>
      </p:ext>
    </p:extLst>
  </p:cSld>
  <p:clrMapOvr>
    <a:masterClrMapping/>
  </p:clrMapOvr>
</p:sld>
</file>

<file path=ppt/theme/theme1.xml><?xml version="1.0" encoding="utf-8"?>
<a:theme xmlns:a="http://schemas.openxmlformats.org/drawingml/2006/main" name="1_MIT P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Microsoft Office PowerPoint</Application>
  <PresentationFormat>Widescreen</PresentationFormat>
  <Paragraphs>58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1_MIT 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 Shilpiya</dc:creator>
  <cp:lastModifiedBy>Fizza Maira</cp:lastModifiedBy>
  <cp:revision>1</cp:revision>
  <dcterms:created xsi:type="dcterms:W3CDTF">2018-11-05T13:58:18Z</dcterms:created>
  <dcterms:modified xsi:type="dcterms:W3CDTF">2026-08-06T07:13:19Z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0x010100296DC331548237488BA9A87C5C22BBA4</vt:lpwstr>
  </property>
  <property fmtid="{D5CDD505-2E9C-101B-9397-08002B2CF9AE}" pid="3" name="ArticulateGUID">
    <vt:lpwstr>405BEB8A-A8B9-422E-86C1-391F774E521D</vt:lpwstr>
  </property>
  <property fmtid="{D5CDD505-2E9C-101B-9397-08002B2CF9AE}" pid="4" name="ArticulatePath">
    <vt:lpwstr>MIT_xPRO_PPT_Template</vt:lpwstr>
  </property>
</Properties>
</file>