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694"/>
  </p:normalViewPr>
  <p:slideViewPr>
    <p:cSldViewPr snapToGrid="0">
      <p:cViewPr varScale="1">
        <p:scale>
          <a:sx n="96" d="100"/>
          <a:sy n="96" d="100"/>
        </p:scale>
        <p:origin x="1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65176" y="5870448"/>
            <a:ext cx="1089964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Sumeet Lakhwani  ·  Research Paper Navigator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1698574" y="3857831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800" b="0" i="0" u="none" strike="noStrike" dirty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LLMs answer with </a:t>
            </a:r>
            <a:r>
              <a:rPr b="1" sz="2000"/>
              <a:t>total confidence</a:t>
            </a:r>
            <a:r>
              <a:rPr b="0" sz="2000"/>
              <a:t> — even when they're completely wrong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it on this exact </a:t>
            </a:r>
            <a:r>
              <a:rPr b="1" sz="2000"/>
              <a:t>153-paper corpus</a:t>
            </a:r>
            <a:r>
              <a:rPr b="0" sz="2000"/>
              <a:t>: an invented title, a fabricated quote, a made-up statistic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 confidently wrong answer is </a:t>
            </a:r>
            <a:r>
              <a:rPr b="1" sz="2000"/>
              <a:t>more dangerous than no answer at all</a:t>
            </a:r>
            <a:r>
              <a:rPr b="0" sz="2000"/>
              <a:t> — that's the risk this system removes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570586" y="696992"/>
            <a:ext cx="1106972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Five-stage pipeline (Checkpoints 2.1–7.1): retrieval, evaluation, agentic reasoning, security/cost hardening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 router sends simple questions to a single call; complex ones enter an agent loop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Answers are grounded strictly in retrieved documents — user input is treated as data, never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  <p:sp>
        <p:nvSpPr>
          <p:cNvPr id="6" name="Oval 5"/>
          <p:cNvSpPr/>
          <p:nvPr/>
        </p:nvSpPr>
        <p:spPr>
          <a:xfrm>
            <a:off x="1328623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User Question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Natural-language research question</a:t>
            </a:r>
          </a:p>
        </p:txBody>
      </p:sp>
      <p:sp>
        <p:nvSpPr>
          <p:cNvPr id="9" name="Oval 8"/>
          <p:cNvSpPr/>
          <p:nvPr/>
        </p:nvSpPr>
        <p:spPr>
          <a:xfrm>
            <a:off x="3620109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0126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40126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Sanitize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Strip injected instructions; escape untrusted text</a:t>
            </a:r>
          </a:p>
        </p:txBody>
      </p:sp>
      <p:sp>
        <p:nvSpPr>
          <p:cNvPr id="12" name="Oval 11"/>
          <p:cNvSpPr/>
          <p:nvPr/>
        </p:nvSpPr>
        <p:spPr>
          <a:xfrm>
            <a:off x="5911596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1612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31612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Route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Simple one-hop vs. multistep question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03082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3099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3099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Retrieve + Decide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BM25 + citation graph; agent loop, ≤ 3 rounds</a:t>
            </a:r>
          </a:p>
        </p:txBody>
      </p:sp>
      <p:sp>
        <p:nvSpPr>
          <p:cNvPr id="18" name="Oval 17"/>
          <p:cNvSpPr/>
          <p:nvPr/>
        </p:nvSpPr>
        <p:spPr>
          <a:xfrm>
            <a:off x="10494568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4585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0B4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714585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0B479C"/>
                </a:solidFill>
              </a:rPr>
              <a:t>Answer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Grounded only in retrieved documents (XML-hardened)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74366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65852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7339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48825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1100" b="0">
                <a:solidFill>
                  <a:srgbClr val="202124"/>
                </a:solidFill>
              </a:rPr>
              <a:t>Router sends simple, one-hop questions straight to Answer in a single LLM call.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F6368"/>
                </a:solidFill>
              </a:rPr>
              <a:t>Multistep questions iterate through Retrieve ⇄ Decide (agent loop, capped at 3 rounds) before answering.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/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LLM-judge evaluation: pass/fail on written grading notes, </a:t>
            </a:r>
            <a:r>
              <a:rPr b="1" sz="2000"/>
              <a:t>5 fixed questions</a:t>
            </a:r>
            <a:r>
              <a:rPr b="0" sz="2000"/>
              <a:t>, unchanged across every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one failure (unreachable at rank ~122) but regressed another — net pass rate unchanged: </a:t>
            </a:r>
            <a:r>
              <a:rPr b="1" sz="2000"/>
              <a:t>4/5</a:t>
            </a:r>
            <a:r>
              <a:rPr b="0" sz="2000"/>
              <a:t>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Measured fixes for hallucination, injection, and cost — but a citation-year bug persists, unresolved, across </a:t>
            </a:r>
            <a:r>
              <a:rPr b="1" sz="2000"/>
              <a:t>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 — free, deterministic, strong on this corpus's precise vocabulary; semantic retrieval deferred, not hidden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+ text conventions, not a new ML model — cheap and hand-verifiable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technique kept the baseline's exact document budget — what honestly exposed the </a:t>
            </a:r>
            <a:r>
              <a:rPr b="1" sz="2000"/>
              <a:t>Checkpoint 4.1 trade-off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enough — chose layered, partial defenses over one “complete”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</a:t>
            </a:r>
            <a:r>
              <a:rPr b="1" sz="2000"/>
              <a:t>5+ checkpoints</a:t>
            </a:r>
            <a:r>
              <a:rPr b="0" sz="2000"/>
              <a:t>) and BM25 ranking the same need </a:t>
            </a:r>
            <a:r>
              <a:rPr b="1" sz="2000"/>
              <a:t>8th to 28th</a:t>
            </a:r>
            <a:r>
              <a:rPr b="0" sz="2000"/>
              <a:t> purely by phrasing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path and reach a different conclusion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year-disambiguation in the main retrieval path, a query-extraction step before BM25, a semantic cache, and broader stability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400" b="1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Happy to go deeper on: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r>
              <a:rPr sz="1600" b="0">
                <a:solidFill>
                  <a:srgbClr val="5F6368"/>
                </a:solidFill>
              </a:rPr>
              <a:t>Code and evidence:  github.com/slakhwa/mit-rag-context-eng-capstone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1996</Words>
  <Application>Microsoft Macintosh PowerPoint</Application>
  <PresentationFormat>Widescreen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Sumeet Lakhwani</cp:lastModifiedBy>
  <cp:revision>3</cp:revision>
  <dcterms:created xsi:type="dcterms:W3CDTF">2018-11-05T13:58:18Z</dcterms:created>
  <dcterms:modified xsi:type="dcterms:W3CDTF">2026-10-28T03:38:50Z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